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114800" cy="411480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·  AWS ELASTIC LOAD BALANCING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Balancer, Target Groups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Blue-Green Deployments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7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resilient AWS traffic routing and safe, zero-downtime releases — provisioned with Terraform and a versioned, locked S3 remote state.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5257800"/>
            <a:ext cx="2831690" cy="384048"/>
          </a:xfrm>
          <a:prstGeom prst="roundRect">
            <a:avLst>
              <a:gd name="adj" fmla="val 19048"/>
            </a:avLst>
          </a:prstGeom>
          <a:solidFill>
            <a:srgbClr val="1F2E52"/>
          </a:solidFill>
          <a:ln w="9525">
            <a:solidFill>
              <a:srgbClr val="3A4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257800"/>
            <a:ext cx="283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&amp; Target Groups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44922" y="5257800"/>
            <a:ext cx="2831690" cy="384048"/>
          </a:xfrm>
          <a:prstGeom prst="roundRect">
            <a:avLst>
              <a:gd name="adj" fmla="val 19048"/>
            </a:avLst>
          </a:prstGeom>
          <a:solidFill>
            <a:srgbClr val="1F2E52"/>
          </a:solidFill>
          <a:ln w="9525">
            <a:solidFill>
              <a:srgbClr val="3A4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4922" y="5257800"/>
            <a:ext cx="28316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Strategy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41205" y="5257800"/>
            <a:ext cx="2442333" cy="384048"/>
          </a:xfrm>
          <a:prstGeom prst="roundRect">
            <a:avLst>
              <a:gd name="adj" fmla="val 19048"/>
            </a:avLst>
          </a:prstGeom>
          <a:solidFill>
            <a:srgbClr val="1F2E52"/>
          </a:solidFill>
          <a:ln w="9525">
            <a:solidFill>
              <a:srgbClr val="3A4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1205" y="5257800"/>
            <a:ext cx="24423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Backend State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8130" y="5257800"/>
            <a:ext cx="2052975" cy="384048"/>
          </a:xfrm>
          <a:prstGeom prst="roundRect">
            <a:avLst>
              <a:gd name="adj" fmla="val 19048"/>
            </a:avLst>
          </a:prstGeom>
          <a:solidFill>
            <a:srgbClr val="1F2E52"/>
          </a:solidFill>
          <a:ln w="9525">
            <a:solidFill>
              <a:srgbClr val="3A4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8130" y="5257800"/>
            <a:ext cx="205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365697" y="5257800"/>
            <a:ext cx="2182761" cy="384048"/>
          </a:xfrm>
          <a:prstGeom prst="roundRect">
            <a:avLst>
              <a:gd name="adj" fmla="val 19048"/>
            </a:avLst>
          </a:prstGeom>
          <a:solidFill>
            <a:srgbClr val="1F2E52"/>
          </a:solidFill>
          <a:ln w="9525">
            <a:solidFill>
              <a:srgbClr val="3A4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65697" y="5257800"/>
            <a:ext cx="21827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607040" y="914400"/>
            <a:ext cx="868680" cy="8686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9968" y="1027328"/>
            <a:ext cx="642823" cy="642823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052" y="20313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099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Fundamentals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6304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Listeners, rules, and Layer-7 routing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1965960"/>
            <a:ext cx="502920" cy="50292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612" y="20313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35640" y="17099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8660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Groups &amp; Health Checks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8660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targets, algorithms, thresholds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12724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493008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52" y="3558388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32369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3310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 Patterns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63040" y="37856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shifting and rollback strategy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3127248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28232" y="3493008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612" y="3558388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35640" y="323697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086600" y="33101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State Management with S3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086600" y="37856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backend, versioning, locking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654296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04672" y="5020056"/>
            <a:ext cx="502920" cy="50292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2" y="5085436"/>
            <a:ext cx="372161" cy="3721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12080" y="4764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463040" y="48371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1463040" y="53126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Exposing and chaining resource attributes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72200" y="4654296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428232" y="5020056"/>
            <a:ext cx="502920" cy="50292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3612" y="5085436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835640" y="47640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6CB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7086600" y="48371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086600" y="53126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patterns for each layer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LOAD BALANCER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Load Balancer (ALB) Fundamentals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184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Layer-7 (HTTP/HTTPS) load balancer that inspects request content, not just IP/port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21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Listener checks for connection requests on a configured protocol and port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254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Rules evaluate conditions (host, path, headers, query string) in priority order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290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rules trigger an Action: forward, redirect, or return a fixed response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32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actions send traffic to one or more Target Groups, optionally weighted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0" y="1874520"/>
            <a:ext cx="4663440" cy="621792"/>
          </a:xfrm>
          <a:prstGeom prst="roundRect">
            <a:avLst>
              <a:gd name="adj" fmla="val 10294"/>
            </a:avLst>
          </a:prstGeom>
          <a:solidFill>
            <a:srgbClr val="1F2E5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1965960"/>
            <a:ext cx="438912" cy="438912"/>
          </a:xfrm>
          <a:prstGeom prst="ellipse">
            <a:avLst/>
          </a:prstGeom>
          <a:solidFill>
            <a:srgbClr val="3A4A78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059" y="2023019"/>
            <a:ext cx="324795" cy="32479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452360" y="18745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69680" y="249631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00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75120" y="2715768"/>
            <a:ext cx="4663440" cy="621792"/>
          </a:xfrm>
          <a:prstGeom prst="roundRect">
            <a:avLst>
              <a:gd name="adj" fmla="val 10294"/>
            </a:avLst>
          </a:prstGeom>
          <a:solidFill>
            <a:srgbClr val="1F2E52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2807208"/>
            <a:ext cx="438912" cy="438912"/>
          </a:xfrm>
          <a:prstGeom prst="ellipse">
            <a:avLst/>
          </a:prstGeom>
          <a:solidFill>
            <a:srgbClr val="3A4A78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059" y="2864267"/>
            <a:ext cx="324795" cy="3247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52360" y="271576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Listener  (443 / HTTPS)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869680" y="333756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00"/>
                </a:solidFill>
              </a:rPr>
              <a:t>▼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675120" y="3557016"/>
            <a:ext cx="4663440" cy="621792"/>
          </a:xfrm>
          <a:prstGeom prst="roundRect">
            <a:avLst>
              <a:gd name="adj" fmla="val 10294"/>
            </a:avLst>
          </a:prstGeom>
          <a:solidFill>
            <a:srgbClr val="1F2E52"/>
          </a:solidFill>
          <a:ln/>
        </p:spPr>
      </p:sp>
      <p:sp>
        <p:nvSpPr>
          <p:cNvPr id="26" name="Shape 22"/>
          <p:cNvSpPr/>
          <p:nvPr/>
        </p:nvSpPr>
        <p:spPr>
          <a:xfrm>
            <a:off x="6858000" y="3648456"/>
            <a:ext cx="438912" cy="438912"/>
          </a:xfrm>
          <a:prstGeom prst="ellipse">
            <a:avLst/>
          </a:prstGeom>
          <a:solidFill>
            <a:srgbClr val="3A4A78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059" y="3705515"/>
            <a:ext cx="324795" cy="32479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52360" y="355701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  (path: /api/*)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869680" y="41788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00"/>
                </a:solidFill>
              </a:rPr>
              <a:t>▼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675120" y="4398264"/>
            <a:ext cx="4663440" cy="621792"/>
          </a:xfrm>
          <a:prstGeom prst="roundRect">
            <a:avLst>
              <a:gd name="adj" fmla="val 10294"/>
            </a:avLst>
          </a:prstGeom>
          <a:solidFill>
            <a:srgbClr val="1F2E52"/>
          </a:solidFill>
          <a:ln/>
        </p:spPr>
      </p:sp>
      <p:sp>
        <p:nvSpPr>
          <p:cNvPr id="31" name="Shape 26"/>
          <p:cNvSpPr/>
          <p:nvPr/>
        </p:nvSpPr>
        <p:spPr>
          <a:xfrm>
            <a:off x="6858000" y="4489704"/>
            <a:ext cx="438912" cy="438912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059" y="4546763"/>
            <a:ext cx="324795" cy="32479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2360" y="43982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  (weighted)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869680" y="50200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900"/>
                </a:solidFill>
              </a:rPr>
              <a:t>▼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6675120" y="5239512"/>
            <a:ext cx="4663440" cy="621792"/>
          </a:xfrm>
          <a:prstGeom prst="roundRect">
            <a:avLst>
              <a:gd name="adj" fmla="val 10294"/>
            </a:avLst>
          </a:prstGeom>
          <a:solidFill>
            <a:srgbClr val="1F2E52"/>
          </a:solidFill>
          <a:ln/>
        </p:spPr>
      </p:sp>
      <p:sp>
        <p:nvSpPr>
          <p:cNvPr id="36" name="Shape 30"/>
          <p:cNvSpPr/>
          <p:nvPr/>
        </p:nvSpPr>
        <p:spPr>
          <a:xfrm>
            <a:off x="6858000" y="5330952"/>
            <a:ext cx="438912" cy="438912"/>
          </a:xfrm>
          <a:prstGeom prst="ellipse">
            <a:avLst/>
          </a:prstGeom>
          <a:solidFill>
            <a:srgbClr val="3A4A78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059" y="5388011"/>
            <a:ext cx="324795" cy="32479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52360" y="52395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/ ECS / Lambda Targets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LOAD BALANCER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Groups Explained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Types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3474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instance, ip, or lambda — determines how traffic is addressed to backends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10128" y="169164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947672"/>
            <a:ext cx="566928" cy="566928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861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3474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path, interval, timeout, healthy/unhealthy thresholds control target eligibility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71616" y="169164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7648" y="1947672"/>
            <a:ext cx="566928" cy="56692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349" y="2021373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Algorithm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27648" y="3474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or least outstanding requests distributes connections across targets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833104" y="1691640"/>
            <a:ext cx="2542032" cy="329184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89136" y="194767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837" y="2021373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89136" y="2743200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Deregistration Delay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089136" y="347472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draining period before a target is fully removed from rotation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·  LOAD BALANCER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Listeners &amp; Routing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evaluated in priority order (lowest number first); the first match wins.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Conditions: host-header, path-pattern, http-header, query-string, source-ip.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forward (single or weighted target groups), redirect, fixed-response.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forwarding across two target groups is the mechanism used to shift traffic during a blue-green release.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309360" y="16916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1F3F9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0" y="1837944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16916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host-header == api.example.com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1F3F9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706624"/>
            <a:ext cx="402336" cy="40233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0" y="25603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path-pattern == /checkout/*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1F3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3575304"/>
            <a:ext cx="402336" cy="402336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575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34290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http-header  X-Canary == 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1F3F9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2240" y="4443984"/>
            <a:ext cx="402336" cy="402336"/>
          </a:xfrm>
          <a:prstGeom prst="ellipse">
            <a:avLst/>
          </a:prstGeom>
          <a:solidFill>
            <a:srgbClr val="5B6685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default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40880" y="429768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→ primary target group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BLUE-GREEN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Blue-Green Deployment: The Concept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7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identical, fully provisioned environments run side by side. Only one — Blue — receives live production traffic at a time, while Green hosts the new release for validation before the switch.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5FA8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 ·  Live (v1.4.2)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3246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5378" y="3341218"/>
            <a:ext cx="541325" cy="5413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production traffic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9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blue-tg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38328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42432" y="3547872"/>
            <a:ext cx="585216" cy="585216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510" y="3623950"/>
            <a:ext cx="433060" cy="4330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4206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93192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22376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98080" y="24688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F9D6B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498080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 ·  Staged (v1.5.0)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9098280" y="3246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3341218"/>
            <a:ext cx="541325" cy="5413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98080" y="4206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FF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smoke-tested, ready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49808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4F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Group: green-tg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BLUE-GREEN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Shifting Traffic with Weighted Target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636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green environment from the same Terraform module used for blue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03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green instances in green-tg; wait for health checks to pass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25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770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listener's forward action to split weight (e.g. 90 / 10)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error rate &amp; latency, then increase green's weight toward 100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310896" cy="310896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59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044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stable, deregister blue targets — or keep them warm for rollback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64592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7556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listener.tf — weighted forward action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2103120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"aws_lb_listener" 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 {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2289048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default_action {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37960" y="2474976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"forward"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2660904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forward {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37960" y="2846832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target_group {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3032760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arn    = aws_lb_target_group.blue.arn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37960" y="3218688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weight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404616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37960" y="3590544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target_group {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37960" y="3776472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arn    = aws_lb_target_group.green.arn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37960" y="3962400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weight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37960" y="4148328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334256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537960" y="4520184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537960" y="4706112"/>
            <a:ext cx="493776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63640" y="5193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weight values and re-apply to progressively shift traffic — no DNS changes required.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 ·  BLUE-GREEN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Strategy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192024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743200"/>
                <a:gridCol w="1874520"/>
                <a:gridCol w="18745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Downtime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Rollback Speed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Infra Cost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540"/>
                          </a:solidFill>
                        </a:rPr>
                        <a:t>In-place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Possible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Slow (redeploy)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540"/>
                          </a:solidFill>
                        </a:rPr>
                        <a:t>Blue-Green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Instant (swap weight)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Higher (2x)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540"/>
                          </a:solidFill>
                        </a:rPr>
                        <a:t>Canary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Fast (revert weight)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6685"/>
                          </a:solidFill>
                        </a:rPr>
                        <a:t>Medium-High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4174236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4114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trades extra infrastructure cost for near-zero downtime and instant rollback.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4951476"/>
            <a:ext cx="338328" cy="338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4892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ALB target groups make blue-green and canary releases mechanically identical — only the shift speed differs.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TERRAFORM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Store Terraform State in S3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Terraform's state file maps configuration to real-world resources. Left local, it can't be shared, is easily lost, and risks concurrent writes from a team or CI/CD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7048" y="2606040"/>
            <a:ext cx="585216" cy="585216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126" y="2682118"/>
            <a:ext cx="433060" cy="433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&amp; Shared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 accessible to every team member and CI/CD runner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23317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2606040"/>
            <a:ext cx="585216" cy="585216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614" y="2682118"/>
            <a:ext cx="433060" cy="433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93008" y="37947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versioning keeps prior state snapshots for recovery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71616" y="23317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0024" y="2606040"/>
            <a:ext cx="585216" cy="585216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102" y="2682118"/>
            <a:ext cx="433060" cy="433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4496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254496" y="37947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prevents concurrent terraform apply from corrupting state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833104" y="2331720"/>
            <a:ext cx="2542032" cy="2651760"/>
          </a:xfrm>
          <a:prstGeom prst="roundRect">
            <a:avLst>
              <a:gd name="adj" fmla="val 3237"/>
            </a:avLst>
          </a:prstGeom>
          <a:solidFill>
            <a:srgbClr val="F1F3F9"/>
          </a:solidFill>
          <a:ln/>
          <a:effectLst>
            <a:outerShdw sx="100000" sy="100000" kx="0" ky="0" algn="bl" rotWithShape="0" blurRad="889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11512" y="2606040"/>
            <a:ext cx="585216" cy="585216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590" y="2682118"/>
            <a:ext cx="433060" cy="4330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15984" y="338328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015984" y="379476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encryption (SSE-KMS) protects sensitive resource attributes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TERRAFORM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S3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5872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"s3" 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6860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       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"my-tfstate-bucket"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07848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       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"prod/alb/terraform.tfstate"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8836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      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"us-east-1"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69824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"terraform-locks"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00812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      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31800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627880"/>
            <a:ext cx="50292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837944"/>
            <a:ext cx="91440" cy="9144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691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environment/component uses a distinct key so state files stay isolated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615184"/>
            <a:ext cx="91440" cy="9144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468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dynamodb_table enables state locking (or use S3 native locking, use_lockfile = true, on Terraform ≥ 1.10)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392424"/>
            <a:ext cx="91440" cy="9144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246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= true applies SSE-S3/KMS server-side encryption at rest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4169664"/>
            <a:ext cx="91440" cy="9144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0233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should have versioning enabled and public access blocked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·  TERRAFORM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ALB &amp; Target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alb.tf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"aws_lb" 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"app" {</a:t>
            </a:r>
            <a:pPr indent="0" marL="0">
              <a:buNone/>
            </a:pPr>
            <a:r>
              <a:rPr lang="en-US" sz="1250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internet-facing ALB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80957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"web-alb"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load_balancer_type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"application"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13074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subnets = var.public_subnet_ids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security_groups = [aws_security_group.alb.id]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45191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077308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309425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"aws_lb_target_group" 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 {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541542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"blue-tg"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port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protocol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vpc_id = var.vpc_id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773658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health_check { path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"/healthz"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healthy_threshold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interval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05775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237892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470009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"aws_lb_target_group" 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"green" {</a:t>
            </a:r>
            <a:pPr indent="0" marL="0">
              <a:buNone/>
            </a:pPr>
            <a:r>
              <a:rPr lang="en-US" sz="1250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identical config, new revision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702126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"green-tg"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port = </a:t>
            </a:r>
            <a:pPr indent="0" marL="0">
              <a:buNone/>
            </a:pPr>
            <a:r>
              <a:rPr lang="en-US" sz="12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protocol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"HTTP"</a:t>
            </a:r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vpc_id = var.vpc_id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934243"/>
            <a:ext cx="10515600" cy="232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·  OUTPUT VALUES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Exposing Resources with Output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778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C73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"alb_dns_name" {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02378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 =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 DNS of the ALB"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655916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      = aws_lb.app.dns_name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909455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162993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416531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29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</a:t>
            </a:r>
            <a:pPr indent="0" marL="0">
              <a:buNone/>
            </a:pPr>
            <a:r>
              <a:rPr lang="en-US" sz="1250" dirty="0">
                <a:solidFill>
                  <a:srgbClr val="8BD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"target_group_arns" {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670069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{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923607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blue  = aws_lb_target_group.blue.arn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177145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green = aws_lb_target_group.green.arn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430684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684222"/>
            <a:ext cx="5029200" cy="253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7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1828800"/>
            <a:ext cx="438912" cy="438912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299" y="1885859"/>
            <a:ext cx="324795" cy="32479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78040" y="17830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surface resource attributes for use by other modules, CI/CD, or terraform_remote_state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492240" y="2743200"/>
            <a:ext cx="438912" cy="438912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99" y="2800259"/>
            <a:ext cx="324795" cy="32479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78040" y="2697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secrets with sensitive = true to keep them out of CLI output and logs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492240" y="3657600"/>
            <a:ext cx="438912" cy="438912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299" y="3714659"/>
            <a:ext cx="324795" cy="32479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78040" y="3611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Root-module outputs are written into the state file and readable via terraform output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Balancer &amp; Target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454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0939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deletion protection and access logs to S3 for auditability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203454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20939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least outstanding requests when request durations vary widely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518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5112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health check thresholds to avoid flapping targets in and out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0" y="345186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35112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deregistration_delay to allow in-flight requests to complete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86918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92861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security groups tightly — only required ports from the ALB to targets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0" y="4869180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236" y="4928616"/>
            <a:ext cx="338328" cy="3383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target groups and ALBs consistently for cost allocation and traceability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Blue-Green Deployments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454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0939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cutover through CI/CD — never shift weights manually in production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203454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20939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progression on CloudWatch alarms (5xx rate, latency) before increasing weight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5186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5112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gradually (e.g. 10 → 50 → 100%) rather than an instant full cutover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0" y="345186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35112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outgoing (blue) environment warm briefly for an instant rollback path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86918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92861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resources by release color/version for clear rollback and cleanup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0" y="486918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236" y="4928616"/>
            <a:ext cx="338328" cy="3383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smoke tests against green's target group before sending any live traffic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·  BEST PRACTICES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State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454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0939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bucket versioning so any state corruption is instantly recoverable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203454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236" y="20939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69164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state at rest (SSE-KMS) and in transit; block all public bucket access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45186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51129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state locking — DynamoDB table or S3 native lock — to prevent races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310896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00800" y="345186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236" y="3511296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31089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state per environment/component via distinct keys or workspaces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86918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928616"/>
            <a:ext cx="338328" cy="3383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least-privilege IAM policies scoped to the specific state bucket/prefix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526280"/>
            <a:ext cx="5349240" cy="1143000"/>
          </a:xfrm>
          <a:prstGeom prst="roundRect">
            <a:avLst>
              <a:gd name="adj" fmla="val 7200"/>
            </a:avLst>
          </a:prstGeom>
          <a:solidFill>
            <a:srgbClr val="F1F3F9"/>
          </a:solidFill>
          <a:ln/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400800" y="4869180"/>
            <a:ext cx="457200" cy="45720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236" y="4928616"/>
            <a:ext cx="338328" cy="33832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40880" y="45262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.tfstate to version control — remote backend only, always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114800" cy="411480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642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listeners + weighted target groups enable safe, gradual traffic shifts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225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deployments give near-zero downtime and instant rollback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809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locking delivers durable, shared, safe Terraform state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39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values connect infrastructure layers and automation pipelines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ALB  ·  Target Groups  ·  Blue-Green  ·  Terraform S3 State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Load Balancer, Target Groups &amp; Blue-Green Deployment with Terraform</dc:title>
  <dc:subject>PptxGenJS Presentation</dc:subject>
  <dc:creator>Claude</dc:creator>
  <cp:lastModifiedBy>Claude</cp:lastModifiedBy>
  <cp:revision>1</cp:revision>
  <dcterms:created xsi:type="dcterms:W3CDTF">2026-07-09T03:57:27Z</dcterms:created>
  <dcterms:modified xsi:type="dcterms:W3CDTF">2026-07-09T03:57:27Z</dcterms:modified>
</cp:coreProperties>
</file>