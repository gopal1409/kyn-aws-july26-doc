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1626"/>
          </a:solidFill>
          <a:ln/>
        </p:spPr>
      </p:sp>
      <p:sp>
        <p:nvSpPr>
          <p:cNvPr id="3" name="Shape 1"/>
          <p:cNvSpPr/>
          <p:nvPr/>
        </p:nvSpPr>
        <p:spPr>
          <a:xfrm>
            <a:off x="8412480" y="-2011680"/>
            <a:ext cx="6400800" cy="6400800"/>
          </a:xfrm>
          <a:prstGeom prst="ellipse">
            <a:avLst/>
          </a:prstGeom>
          <a:solidFill>
            <a:srgbClr val="241C36"/>
          </a:solidFill>
          <a:ln/>
        </p:spPr>
      </p:sp>
      <p:sp>
        <p:nvSpPr>
          <p:cNvPr id="4" name="Shape 2"/>
          <p:cNvSpPr/>
          <p:nvPr/>
        </p:nvSpPr>
        <p:spPr>
          <a:xfrm>
            <a:off x="9601200" y="-914400"/>
            <a:ext cx="3840480" cy="3840480"/>
          </a:xfrm>
          <a:prstGeom prst="ellipse">
            <a:avLst/>
          </a:prstGeom>
          <a:solidFill>
            <a:srgbClr val="2C224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64008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62179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C8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HASHICORP TERRAFORM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2194560"/>
            <a:ext cx="91440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Terraform Security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Best Practices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566928" y="388620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Securing state, secrets, and pipelines — and the habits that keep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code maintainable at scale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66928" y="5029200"/>
            <a:ext cx="1755648" cy="384048"/>
          </a:xfrm>
          <a:prstGeom prst="roundRect">
            <a:avLst>
              <a:gd name="adj" fmla="val 50000"/>
            </a:avLst>
          </a:prstGeom>
          <a:solidFill>
            <a:srgbClr val="241C36"/>
          </a:solidFill>
          <a:ln w="12700">
            <a:solidFill>
              <a:srgbClr val="2C224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" y="5029200"/>
            <a:ext cx="17556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&amp; Secrets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487168" y="5029200"/>
            <a:ext cx="2121408" cy="384048"/>
          </a:xfrm>
          <a:prstGeom prst="roundRect">
            <a:avLst>
              <a:gd name="adj" fmla="val 50000"/>
            </a:avLst>
          </a:prstGeom>
          <a:solidFill>
            <a:srgbClr val="241C36"/>
          </a:solidFill>
          <a:ln w="12700">
            <a:solidFill>
              <a:srgbClr val="2C224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487168" y="5029200"/>
            <a:ext cx="21214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Least-Privilege IAM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773168" y="5029200"/>
            <a:ext cx="1664208" cy="384048"/>
          </a:xfrm>
          <a:prstGeom prst="roundRect">
            <a:avLst>
              <a:gd name="adj" fmla="val 50000"/>
            </a:avLst>
          </a:prstGeom>
          <a:solidFill>
            <a:srgbClr val="241C36"/>
          </a:solidFill>
          <a:ln w="12700">
            <a:solidFill>
              <a:srgbClr val="2C224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73168" y="5029200"/>
            <a:ext cx="16642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as Code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601968" y="5029200"/>
            <a:ext cx="1847088" cy="384048"/>
          </a:xfrm>
          <a:prstGeom prst="roundRect">
            <a:avLst>
              <a:gd name="adj" fmla="val 50000"/>
            </a:avLst>
          </a:prstGeom>
          <a:solidFill>
            <a:srgbClr val="241C36"/>
          </a:solidFill>
          <a:ln w="12700">
            <a:solidFill>
              <a:srgbClr val="2C224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601968" y="5029200"/>
            <a:ext cx="18470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Guardrails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66928" y="6263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A8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 •  PLAN  •  REVIEW  •  APPLY  •  MONITOR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1848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C85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325880" y="1600200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325880" y="1892808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IaC security risks and their blast radius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23957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C85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325880" y="2377440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Security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325880" y="2670048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inject checks, from first commit to apply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317296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C85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325880" y="3154680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&amp; Secrets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325880" y="3447288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Protecting the state file and sensitive values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035040" y="161848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C85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812280" y="1600200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812280" y="1892808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Least-privilege IAM for Terraform providers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035040" y="23957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C85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812280" y="2377440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as Code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812280" y="2670048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scanning and compliance guardrails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035040" y="317296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C85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812280" y="3154680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812280" y="3447288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Structure, collaboration, and code hygiene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A8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SECURITY  ×  BEST PRACTICES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LANDSCAPE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Terraform Security Matters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Infrastructure-as-Code moves fast — a single unreviewed line can provision, expose, or destroy real production systems.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49240" cy="1828800"/>
          </a:xfrm>
          <a:prstGeom prst="roundRect">
            <a:avLst>
              <a:gd name="adj" fmla="val 5000"/>
            </a:avLst>
          </a:prstGeom>
          <a:solidFill>
            <a:srgbClr val="241C36"/>
          </a:solidFill>
          <a:ln/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201168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404872"/>
            <a:ext cx="4837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Files Leak Secrets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04672" y="2898648"/>
            <a:ext cx="48371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default, .tfstate stores every resource attribute in plaintext — including passwords and keys generated by providers.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263640" y="1783080"/>
            <a:ext cx="5349240" cy="1828800"/>
          </a:xfrm>
          <a:prstGeom prst="roundRect">
            <a:avLst>
              <a:gd name="adj" fmla="val 5000"/>
            </a:avLst>
          </a:prstGeom>
          <a:solidFill>
            <a:srgbClr val="241C36"/>
          </a:solidFill>
          <a:ln/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9672" y="2011680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519672" y="2404872"/>
            <a:ext cx="4837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Replicate Mistakes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6519672" y="2898648"/>
            <a:ext cx="48371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misconfigured shared module doesn't fail once — it reproduces the same vulnerability in every environment that calls it.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548640" y="3886200"/>
            <a:ext cx="5349240" cy="1828800"/>
          </a:xfrm>
          <a:prstGeom prst="roundRect">
            <a:avLst>
              <a:gd name="adj" fmla="val 5000"/>
            </a:avLst>
          </a:prstGeom>
          <a:solidFill>
            <a:srgbClr val="241C36"/>
          </a:solidFill>
          <a:ln/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4114800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04672" y="4507992"/>
            <a:ext cx="4837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Over-Privileged Automation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804672" y="5001768"/>
            <a:ext cx="48371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credentials with broad IAM permissions turn a code-review miss into an account-wide compromise.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6263640" y="3886200"/>
            <a:ext cx="5349240" cy="1828800"/>
          </a:xfrm>
          <a:prstGeom prst="roundRect">
            <a:avLst>
              <a:gd name="adj" fmla="val 5000"/>
            </a:avLst>
          </a:prstGeom>
          <a:solidFill>
            <a:srgbClr val="241C36"/>
          </a:solidFill>
          <a:ln/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9672" y="4114800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519672" y="4507992"/>
            <a:ext cx="4837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Exposure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6519672" y="5001768"/>
            <a:ext cx="48371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modules and providers are third-party code executed with your cloud credentials — pin and vet them like any dependency.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A8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SECURITY  ×  BEST PRACTICES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Checkpoints Across the Terraform Lifecycle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Bolt security onto every stage instead of bolting it on at the end.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956816" cy="1371600"/>
          </a:xfrm>
          <a:prstGeom prst="roundRect">
            <a:avLst>
              <a:gd name="adj" fmla="val 6000"/>
            </a:avLst>
          </a:prstGeom>
          <a:solidFill>
            <a:srgbClr val="2C2244"/>
          </a:solidFill>
          <a:ln w="15875">
            <a:solidFill>
              <a:srgbClr val="6F4FE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3312" y="2103120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542032"/>
            <a:ext cx="1956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505456" y="2606040"/>
            <a:ext cx="320040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548640" y="3566160"/>
            <a:ext cx="1956816" cy="1691640"/>
          </a:xfrm>
          <a:prstGeom prst="roundRect">
            <a:avLst>
              <a:gd name="adj" fmla="val 4865"/>
            </a:avLst>
          </a:prstGeom>
          <a:solidFill>
            <a:srgbClr val="241C36"/>
          </a:solidFill>
          <a:ln/>
        </p:spPr>
      </p:sp>
      <p:sp>
        <p:nvSpPr>
          <p:cNvPr id="10" name="Text 7"/>
          <p:cNvSpPr/>
          <p:nvPr/>
        </p:nvSpPr>
        <p:spPr>
          <a:xfrm>
            <a:off x="713232" y="3703320"/>
            <a:ext cx="16276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fmt, validate, tflint locally &amp; pre-commit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825496" y="1920240"/>
            <a:ext cx="1956816" cy="1371600"/>
          </a:xfrm>
          <a:prstGeom prst="roundRect">
            <a:avLst>
              <a:gd name="adj" fmla="val 6000"/>
            </a:avLst>
          </a:prstGeom>
          <a:solidFill>
            <a:srgbClr val="2C2244"/>
          </a:solidFill>
          <a:ln w="15875">
            <a:solidFill>
              <a:srgbClr val="6F4FE8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0168" y="2103120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825496" y="2542032"/>
            <a:ext cx="1956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4782312" y="2606040"/>
            <a:ext cx="320040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2825496" y="3566160"/>
            <a:ext cx="1956816" cy="1691640"/>
          </a:xfrm>
          <a:prstGeom prst="roundRect">
            <a:avLst>
              <a:gd name="adj" fmla="val 4865"/>
            </a:avLst>
          </a:prstGeom>
          <a:solidFill>
            <a:srgbClr val="241C36"/>
          </a:solidFill>
          <a:ln/>
        </p:spPr>
      </p:sp>
      <p:sp>
        <p:nvSpPr>
          <p:cNvPr id="16" name="Text 12"/>
          <p:cNvSpPr/>
          <p:nvPr/>
        </p:nvSpPr>
        <p:spPr>
          <a:xfrm>
            <a:off x="2990088" y="3703320"/>
            <a:ext cx="16276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tfsec / Checkov scan the generated plan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5102352" y="1920240"/>
            <a:ext cx="1956816" cy="1371600"/>
          </a:xfrm>
          <a:prstGeom prst="roundRect">
            <a:avLst>
              <a:gd name="adj" fmla="val 6000"/>
            </a:avLst>
          </a:prstGeom>
          <a:solidFill>
            <a:srgbClr val="2C2244"/>
          </a:solidFill>
          <a:ln w="15875">
            <a:solidFill>
              <a:srgbClr val="6F4FE8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7024" y="2103120"/>
            <a:ext cx="347472" cy="34747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102352" y="2542032"/>
            <a:ext cx="1956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7059168" y="2606040"/>
            <a:ext cx="320040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  <a:tailEnd type="triangle"/>
          </a:ln>
        </p:spPr>
      </p:sp>
      <p:sp>
        <p:nvSpPr>
          <p:cNvPr id="21" name="Shape 16"/>
          <p:cNvSpPr/>
          <p:nvPr/>
        </p:nvSpPr>
        <p:spPr>
          <a:xfrm>
            <a:off x="5102352" y="3566160"/>
            <a:ext cx="1956816" cy="1691640"/>
          </a:xfrm>
          <a:prstGeom prst="roundRect">
            <a:avLst>
              <a:gd name="adj" fmla="val 4865"/>
            </a:avLst>
          </a:prstGeom>
          <a:solidFill>
            <a:srgbClr val="241C36"/>
          </a:solidFill>
          <a:ln/>
        </p:spPr>
      </p:sp>
      <p:sp>
        <p:nvSpPr>
          <p:cNvPr id="22" name="Text 17"/>
          <p:cNvSpPr/>
          <p:nvPr/>
        </p:nvSpPr>
        <p:spPr>
          <a:xfrm>
            <a:off x="5266944" y="3703320"/>
            <a:ext cx="16276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approval + policy-as-code gate (OPA/Sentinel)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7379208" y="1920240"/>
            <a:ext cx="1956816" cy="1371600"/>
          </a:xfrm>
          <a:prstGeom prst="roundRect">
            <a:avLst>
              <a:gd name="adj" fmla="val 6000"/>
            </a:avLst>
          </a:prstGeom>
          <a:solidFill>
            <a:srgbClr val="2C2244"/>
          </a:solidFill>
          <a:ln w="15875">
            <a:solidFill>
              <a:srgbClr val="6F4FE8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80" y="2103120"/>
            <a:ext cx="347472" cy="34747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379208" y="2542032"/>
            <a:ext cx="1956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1400" dirty="0"/>
          </a:p>
        </p:txBody>
      </p:sp>
      <p:sp>
        <p:nvSpPr>
          <p:cNvPr id="26" name="Shape 20"/>
          <p:cNvSpPr/>
          <p:nvPr/>
        </p:nvSpPr>
        <p:spPr>
          <a:xfrm>
            <a:off x="9336024" y="2606040"/>
            <a:ext cx="320040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  <a:tailEnd type="triangle"/>
          </a:ln>
        </p:spPr>
      </p:sp>
      <p:sp>
        <p:nvSpPr>
          <p:cNvPr id="27" name="Shape 21"/>
          <p:cNvSpPr/>
          <p:nvPr/>
        </p:nvSpPr>
        <p:spPr>
          <a:xfrm>
            <a:off x="7379208" y="3566160"/>
            <a:ext cx="1956816" cy="1691640"/>
          </a:xfrm>
          <a:prstGeom prst="roundRect">
            <a:avLst>
              <a:gd name="adj" fmla="val 4865"/>
            </a:avLst>
          </a:prstGeom>
          <a:solidFill>
            <a:srgbClr val="241C36"/>
          </a:solidFill>
          <a:ln/>
        </p:spPr>
      </p:sp>
      <p:sp>
        <p:nvSpPr>
          <p:cNvPr id="28" name="Text 22"/>
          <p:cNvSpPr/>
          <p:nvPr/>
        </p:nvSpPr>
        <p:spPr>
          <a:xfrm>
            <a:off x="7543800" y="3703320"/>
            <a:ext cx="16276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Short-lived OIDC credentials, gated environment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9656064" y="1920240"/>
            <a:ext cx="1956816" cy="1371600"/>
          </a:xfrm>
          <a:prstGeom prst="roundRect">
            <a:avLst>
              <a:gd name="adj" fmla="val 6000"/>
            </a:avLst>
          </a:prstGeom>
          <a:solidFill>
            <a:srgbClr val="2C2244"/>
          </a:solidFill>
          <a:ln w="15875">
            <a:solidFill>
              <a:srgbClr val="6F4FE8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60736" y="2103120"/>
            <a:ext cx="347472" cy="34747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656064" y="2542032"/>
            <a:ext cx="1956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400" dirty="0"/>
          </a:p>
        </p:txBody>
      </p:sp>
      <p:sp>
        <p:nvSpPr>
          <p:cNvPr id="32" name="Shape 25"/>
          <p:cNvSpPr/>
          <p:nvPr/>
        </p:nvSpPr>
        <p:spPr>
          <a:xfrm>
            <a:off x="9656064" y="3566160"/>
            <a:ext cx="1956816" cy="1691640"/>
          </a:xfrm>
          <a:prstGeom prst="roundRect">
            <a:avLst>
              <a:gd name="adj" fmla="val 4865"/>
            </a:avLst>
          </a:prstGeom>
          <a:solidFill>
            <a:srgbClr val="241C36"/>
          </a:solidFill>
          <a:ln/>
        </p:spPr>
      </p:sp>
      <p:sp>
        <p:nvSpPr>
          <p:cNvPr id="33" name="Text 26"/>
          <p:cNvSpPr/>
          <p:nvPr/>
        </p:nvSpPr>
        <p:spPr>
          <a:xfrm>
            <a:off x="9820656" y="3703320"/>
            <a:ext cx="16276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detection &amp; continuous compliance checks</a:t>
            </a:r>
            <a:endParaRPr lang="en-US" sz="1050" dirty="0"/>
          </a:p>
        </p:txBody>
      </p:sp>
      <p:sp>
        <p:nvSpPr>
          <p:cNvPr id="34" name="Text 27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5" name="Text 28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A8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SECURITY  ×  BEST PRACTICES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SECURITY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the Terraform State File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state file is the single most sensitive artifact in a Terraform project — treat it like a secret.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943600" cy="3063240"/>
          </a:xfrm>
          <a:prstGeom prst="roundRect">
            <a:avLst>
              <a:gd name="adj" fmla="val 2388"/>
            </a:avLst>
          </a:prstGeom>
          <a:solidFill>
            <a:srgbClr val="120E1C"/>
          </a:solidFill>
          <a:ln w="12700">
            <a:solidFill>
              <a:srgbClr val="2C224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88366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859536" y="188366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005840" y="188366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1810512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backend.tf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68680" y="2194560"/>
            <a:ext cx="53035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 {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C8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backend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0B5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"s3"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bucket         =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0B5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"my-org-tf-state"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key            =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0B5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"prod/network/terraform.tfstate"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region         =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0B5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"us-east-1"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encrypt        =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kms_key_id     =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FD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var.state_kms_key_arn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dynamodb_table =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0B5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"tf-state-lock"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A8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locking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1801368"/>
            <a:ext cx="219456" cy="21945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086600" y="178308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use a remote backend (S3, Azure Storage, Terraform Cloud) — never commit .tfstate to Git.</a:t>
            </a:r>
            <a:endParaRPr lang="en-US" sz="11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423160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086600" y="2404872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encryption at rest (SSE-KMS) and enforce TLS in transit.</a:t>
            </a:r>
            <a:endParaRPr lang="en-US" sz="11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3044952"/>
            <a:ext cx="219456" cy="21945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086600" y="3026664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on state locking so concurrent applies can't corrupt state.</a:t>
            </a:r>
            <a:endParaRPr lang="en-US" sz="11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3666744"/>
            <a:ext cx="219456" cy="21945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086600" y="3648456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bucket/container access with IAM policies scoped to the CI role only.</a:t>
            </a:r>
            <a:endParaRPr lang="en-US" sz="11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840" y="4288536"/>
            <a:ext cx="219456" cy="21945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086600" y="4270248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versioning on the state bucket for point-in-time recovery.</a:t>
            </a:r>
            <a:endParaRPr lang="en-US" sz="1100" dirty="0"/>
          </a:p>
        </p:txBody>
      </p:sp>
      <p:sp>
        <p:nvSpPr>
          <p:cNvPr id="21" name="Text 14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A8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SECURITY  ×  BEST PRACTICES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Secrets Out of Your Code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92240" cy="3977640"/>
          </a:xfrm>
          <a:prstGeom prst="roundRect">
            <a:avLst>
              <a:gd name="adj" fmla="val 1839"/>
            </a:avLst>
          </a:prstGeom>
          <a:solidFill>
            <a:srgbClr val="120E1C"/>
          </a:solidFill>
          <a:ln w="12700">
            <a:solidFill>
              <a:srgbClr val="2C224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60934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859536" y="160934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005840" y="160934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1536192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main.tf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68680" y="1920240"/>
            <a:ext cx="585216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8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✗ Never hardcode secrets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C8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0B5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"aws_db_instance"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0B5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"this"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password =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061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"Sup3rSecret!"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8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never do this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8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✓ Pull from a secrets manager at apply time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C8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0B5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"aws_secretsmanager_secret_version"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0B5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"db"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secret_id =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0B5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"prod/db/password"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C8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0B5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"aws_db_instance"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0B5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"this"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password =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FD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data.aws_secretsmanager_secret_version.db.secret_string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1600200"/>
            <a:ext cx="292608" cy="2926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772400" y="15636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variables sensitive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772400" y="1837944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= true hides values from CLI, plan, and apply output.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2587752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772400" y="255117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Externalize secrets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7772400" y="2825496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Vault, AWS Secrets Manager, or SSM Parameter Store — read at apply time, never stored in code.</a:t>
            </a:r>
            <a:endParaRPr lang="en-US" sz="10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3575304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772400" y="35387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.gitignore state &amp; vars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7772400" y="381304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 *.tfvars, .terraform/, and *.tfstate from version control.</a:t>
            </a:r>
            <a:endParaRPr lang="en-US" sz="10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920" y="4562856"/>
            <a:ext cx="292608" cy="29260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772400" y="45262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 regularly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7772400" y="480060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Short-lived, rotated credentials limit the damage of any single leak.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A8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SECURITY  ×  BEST PRACTICES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Least-Privilege IAM for Terraform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Terraform's provider credentials are only as safe as the permissions behind them.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993392" cy="1143000"/>
          </a:xfrm>
          <a:prstGeom prst="roundRect">
            <a:avLst>
              <a:gd name="adj" fmla="val 7200"/>
            </a:avLst>
          </a:prstGeom>
          <a:solidFill>
            <a:srgbClr val="241C36"/>
          </a:solidFill>
          <a:ln w="12700">
            <a:solidFill>
              <a:srgbClr val="2C224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9888" y="1993392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2395728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Pipeline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542032" y="2400300"/>
            <a:ext cx="274320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2816352" y="1828800"/>
            <a:ext cx="1993392" cy="1143000"/>
          </a:xfrm>
          <a:prstGeom prst="roundRect">
            <a:avLst>
              <a:gd name="adj" fmla="val 7200"/>
            </a:avLst>
          </a:prstGeom>
          <a:solidFill>
            <a:srgbClr val="241C36"/>
          </a:solidFill>
          <a:ln w="12700">
            <a:solidFill>
              <a:srgbClr val="2C2244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993392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862072" y="2395728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OIDC Token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809744" y="2400300"/>
            <a:ext cx="274320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  <a:tailEnd type="triangle"/>
          </a:ln>
        </p:spPr>
      </p:sp>
      <p:sp>
        <p:nvSpPr>
          <p:cNvPr id="13" name="Shape 9"/>
          <p:cNvSpPr/>
          <p:nvPr/>
        </p:nvSpPr>
        <p:spPr>
          <a:xfrm>
            <a:off x="5084064" y="1828800"/>
            <a:ext cx="1993392" cy="1143000"/>
          </a:xfrm>
          <a:prstGeom prst="roundRect">
            <a:avLst>
              <a:gd name="adj" fmla="val 7200"/>
            </a:avLst>
          </a:prstGeom>
          <a:solidFill>
            <a:srgbClr val="241C36"/>
          </a:solidFill>
          <a:ln w="12700">
            <a:solidFill>
              <a:srgbClr val="2C2244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5312" y="1993392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129784" y="2395728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 Role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7077456" y="2400300"/>
            <a:ext cx="274320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  <a:tailEnd type="triangle"/>
          </a:ln>
        </p:spPr>
      </p:sp>
      <p:sp>
        <p:nvSpPr>
          <p:cNvPr id="17" name="Shape 12"/>
          <p:cNvSpPr/>
          <p:nvPr/>
        </p:nvSpPr>
        <p:spPr>
          <a:xfrm>
            <a:off x="7351776" y="1828800"/>
            <a:ext cx="1993392" cy="1143000"/>
          </a:xfrm>
          <a:prstGeom prst="roundRect">
            <a:avLst>
              <a:gd name="adj" fmla="val 7200"/>
            </a:avLst>
          </a:prstGeom>
          <a:solidFill>
            <a:srgbClr val="241C36"/>
          </a:solidFill>
          <a:ln w="12700">
            <a:solidFill>
              <a:srgbClr val="2C2244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3024" y="1993392"/>
            <a:ext cx="310896" cy="31089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397496" y="2395728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Policy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9345168" y="2400300"/>
            <a:ext cx="274320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  <a:tailEnd type="triangle"/>
          </a:ln>
        </p:spPr>
      </p:sp>
      <p:sp>
        <p:nvSpPr>
          <p:cNvPr id="21" name="Shape 15"/>
          <p:cNvSpPr/>
          <p:nvPr/>
        </p:nvSpPr>
        <p:spPr>
          <a:xfrm>
            <a:off x="9619488" y="1828800"/>
            <a:ext cx="1993392" cy="1143000"/>
          </a:xfrm>
          <a:prstGeom prst="roundRect">
            <a:avLst>
              <a:gd name="adj" fmla="val 7200"/>
            </a:avLst>
          </a:prstGeom>
          <a:solidFill>
            <a:srgbClr val="241C36"/>
          </a:solidFill>
          <a:ln w="12700">
            <a:solidFill>
              <a:srgbClr val="2C2244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60736" y="1993392"/>
            <a:ext cx="310896" cy="31089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665208" y="2395728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Provider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548640" y="333756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241C36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3502152"/>
            <a:ext cx="237744" cy="23774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188720" y="3337560"/>
            <a:ext cx="10149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long-lived access keys in CI — federate with OIDC and assume a short-lived role per run.</a:t>
            </a:r>
            <a:endParaRPr lang="en-US" sz="1150" dirty="0"/>
          </a:p>
        </p:txBody>
      </p:sp>
      <p:sp>
        <p:nvSpPr>
          <p:cNvPr id="27" name="Shape 19"/>
          <p:cNvSpPr/>
          <p:nvPr/>
        </p:nvSpPr>
        <p:spPr>
          <a:xfrm>
            <a:off x="548640" y="402336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241C36"/>
          </a:solidFill>
          <a:ln/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4187952"/>
            <a:ext cx="237744" cy="237744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188720" y="4023360"/>
            <a:ext cx="10149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roles for plan (read-only) and apply (write) so a PR preview can't mutate infrastructure.</a:t>
            </a:r>
            <a:endParaRPr lang="en-US" sz="1150" dirty="0"/>
          </a:p>
        </p:txBody>
      </p:sp>
      <p:sp>
        <p:nvSpPr>
          <p:cNvPr id="30" name="Shape 21"/>
          <p:cNvSpPr/>
          <p:nvPr/>
        </p:nvSpPr>
        <p:spPr>
          <a:xfrm>
            <a:off x="548640" y="470916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241C36"/>
          </a:solidFill>
          <a:ln/>
        </p:spPr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240" y="4873752"/>
            <a:ext cx="237744" cy="237744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1188720" y="4709160"/>
            <a:ext cx="10149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IAM policies to specific resource ARNs and actions — never Action: "*" / Resource: "*".</a:t>
            </a:r>
            <a:endParaRPr lang="en-US" sz="1150" dirty="0"/>
          </a:p>
        </p:txBody>
      </p:sp>
      <p:sp>
        <p:nvSpPr>
          <p:cNvPr id="33" name="Shape 23"/>
          <p:cNvSpPr/>
          <p:nvPr/>
        </p:nvSpPr>
        <p:spPr>
          <a:xfrm>
            <a:off x="548640" y="539496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241C36"/>
          </a:solidFill>
          <a:ln/>
        </p:spPr>
      </p:sp>
      <p:pic>
        <p:nvPicPr>
          <p:cNvPr id="3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7240" y="5559552"/>
            <a:ext cx="237744" cy="237744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1188720" y="5394960"/>
            <a:ext cx="10149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MFA and break-glass procedures for any human running terraform apply outside CI.</a:t>
            </a:r>
            <a:endParaRPr lang="en-US" sz="1150" dirty="0"/>
          </a:p>
        </p:txBody>
      </p:sp>
      <p:sp>
        <p:nvSpPr>
          <p:cNvPr id="36" name="Text 25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37" name="Text 26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A8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SECURITY  ×  BEST PRACTICES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GUARDRAILS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Analysis &amp; Policy as Code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misconfigurations before they're ever applied — automatically, on every change.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49240" cy="1828800"/>
          </a:xfrm>
          <a:prstGeom prst="roundRect">
            <a:avLst>
              <a:gd name="adj" fmla="val 5000"/>
            </a:avLst>
          </a:prstGeom>
          <a:solidFill>
            <a:srgbClr val="241C36"/>
          </a:solidFill>
          <a:ln/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011680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2C2244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01168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 &amp; STYLE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04672" y="2441448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 validate / fmt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04672" y="2834640"/>
            <a:ext cx="4837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checks for valid HCL and consistent formatting — the first gate, run locally and in CI.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63640" y="1783080"/>
            <a:ext cx="5349240" cy="1828800"/>
          </a:xfrm>
          <a:prstGeom prst="roundRect">
            <a:avLst>
              <a:gd name="adj" fmla="val 5000"/>
            </a:avLst>
          </a:prstGeom>
          <a:solidFill>
            <a:srgbClr val="241C36"/>
          </a:solidFill>
          <a:ln/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19672" y="2011680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2C2244"/>
          </a:solidFill>
          <a:ln/>
        </p:spPr>
      </p:sp>
      <p:sp>
        <p:nvSpPr>
          <p:cNvPr id="12" name="Text 10"/>
          <p:cNvSpPr/>
          <p:nvPr/>
        </p:nvSpPr>
        <p:spPr>
          <a:xfrm>
            <a:off x="6519672" y="201168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LINTING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519672" y="2441448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tflint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19672" y="2834640"/>
            <a:ext cx="4837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provider-specific errors, unused declarations, and deprecated syntax before plan.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886200"/>
            <a:ext cx="5349240" cy="1828800"/>
          </a:xfrm>
          <a:prstGeom prst="roundRect">
            <a:avLst>
              <a:gd name="adj" fmla="val 5000"/>
            </a:avLst>
          </a:prstGeom>
          <a:solidFill>
            <a:srgbClr val="241C36"/>
          </a:solidFill>
          <a:ln/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4672" y="4114800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2C2244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" y="411480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SCANNING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04672" y="4544568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tfsec / Checkov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04672" y="4937760"/>
            <a:ext cx="4837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insecure resource configurations — open security groups, unencrypted storage, public buckets.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63640" y="3886200"/>
            <a:ext cx="5349240" cy="1828800"/>
          </a:xfrm>
          <a:prstGeom prst="roundRect">
            <a:avLst>
              <a:gd name="adj" fmla="val 5000"/>
            </a:avLst>
          </a:prstGeom>
          <a:solidFill>
            <a:srgbClr val="241C36"/>
          </a:solidFill>
          <a:ln/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19672" y="4114800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2C2244"/>
          </a:solidFill>
          <a:ln/>
        </p:spPr>
      </p:sp>
      <p:sp>
        <p:nvSpPr>
          <p:cNvPr id="22" name="Text 20"/>
          <p:cNvSpPr/>
          <p:nvPr/>
        </p:nvSpPr>
        <p:spPr>
          <a:xfrm>
            <a:off x="6519672" y="411480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AS CODE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519672" y="4544568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OPA / Sentinel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519672" y="4937760"/>
            <a:ext cx="4837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organizational rules — allowed regions, mandatory tags, instance types — as a merge gate.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A8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SECURITY  ×  BEST PRACTICES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SECURITY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Your CI/CD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526030" cy="1417320"/>
          </a:xfrm>
          <a:prstGeom prst="roundRect">
            <a:avLst>
              <a:gd name="adj" fmla="val 5806"/>
            </a:avLst>
          </a:prstGeom>
          <a:solidFill>
            <a:srgbClr val="2C2244"/>
          </a:solidFill>
          <a:ln w="15875">
            <a:solidFill>
              <a:srgbClr val="6F4FE8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7063" y="1719072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1792" y="2148840"/>
            <a:ext cx="237972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21792" y="2487168"/>
            <a:ext cx="237972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8A8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+ tfsec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074670" y="2263140"/>
            <a:ext cx="320040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3394710" y="1554480"/>
            <a:ext cx="2526030" cy="1417320"/>
          </a:xfrm>
          <a:prstGeom prst="roundRect">
            <a:avLst>
              <a:gd name="adj" fmla="val 5806"/>
            </a:avLst>
          </a:prstGeom>
          <a:solidFill>
            <a:srgbClr val="2C2244"/>
          </a:solidFill>
          <a:ln w="15875">
            <a:solidFill>
              <a:srgbClr val="6F4FE8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3133" y="1719072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67862" y="2148840"/>
            <a:ext cx="237972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Review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3467862" y="2487168"/>
            <a:ext cx="237972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8A8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required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5920740" y="2263140"/>
            <a:ext cx="320040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6240780" y="1554480"/>
            <a:ext cx="2526030" cy="1417320"/>
          </a:xfrm>
          <a:prstGeom prst="roundRect">
            <a:avLst>
              <a:gd name="adj" fmla="val 5806"/>
            </a:avLst>
          </a:prstGeom>
          <a:solidFill>
            <a:srgbClr val="2C2244"/>
          </a:solidFill>
          <a:ln w="15875">
            <a:solidFill>
              <a:srgbClr val="6F4FE8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9203" y="1719072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313932" y="2148840"/>
            <a:ext cx="237972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to Main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6313932" y="2487168"/>
            <a:ext cx="237972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8A8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gate (OPA)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8766810" y="2263140"/>
            <a:ext cx="320040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9086850" y="1554480"/>
            <a:ext cx="2526030" cy="1417320"/>
          </a:xfrm>
          <a:prstGeom prst="roundRect">
            <a:avLst>
              <a:gd name="adj" fmla="val 5806"/>
            </a:avLst>
          </a:prstGeom>
          <a:solidFill>
            <a:srgbClr val="2C2244"/>
          </a:solidFill>
          <a:ln w="15875">
            <a:solidFill>
              <a:srgbClr val="6F4FE8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5273" y="1719072"/>
            <a:ext cx="329184" cy="32918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160002" y="2148840"/>
            <a:ext cx="237972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(Gated Env)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9160002" y="2487168"/>
            <a:ext cx="237972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8A8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OIDC creds, manual approval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548640" y="3337560"/>
            <a:ext cx="11064240" cy="530352"/>
          </a:xfrm>
          <a:prstGeom prst="roundRect">
            <a:avLst>
              <a:gd name="adj" fmla="val 13793"/>
            </a:avLst>
          </a:prstGeom>
          <a:solidFill>
            <a:srgbClr val="241C36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483864"/>
            <a:ext cx="219456" cy="21945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170432" y="3337560"/>
            <a:ext cx="10195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terraform plan (never apply) automatically on every pull request, and post the diff as a PR comment.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548640" y="3977640"/>
            <a:ext cx="11064240" cy="530352"/>
          </a:xfrm>
          <a:prstGeom prst="roundRect">
            <a:avLst>
              <a:gd name="adj" fmla="val 13793"/>
            </a:avLst>
          </a:prstGeom>
          <a:solidFill>
            <a:srgbClr val="241C36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4123944"/>
            <a:ext cx="219456" cy="219456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170432" y="3977640"/>
            <a:ext cx="10195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short-lived OIDC federation for cloud credentials instead of storing static keys as CI secrets.</a:t>
            </a:r>
            <a:endParaRPr lang="en-US" sz="1100" dirty="0"/>
          </a:p>
        </p:txBody>
      </p:sp>
      <p:sp>
        <p:nvSpPr>
          <p:cNvPr id="29" name="Shape 21"/>
          <p:cNvSpPr/>
          <p:nvPr/>
        </p:nvSpPr>
        <p:spPr>
          <a:xfrm>
            <a:off x="548640" y="4617720"/>
            <a:ext cx="11064240" cy="530352"/>
          </a:xfrm>
          <a:prstGeom prst="roundRect">
            <a:avLst>
              <a:gd name="adj" fmla="val 13793"/>
            </a:avLst>
          </a:prstGeom>
          <a:solidFill>
            <a:srgbClr val="241C36"/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4764024"/>
            <a:ext cx="219456" cy="219456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170432" y="4617720"/>
            <a:ext cx="10195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plan and apply into separate jobs with different permission scopes — read-only vs write.</a:t>
            </a:r>
            <a:endParaRPr lang="en-US" sz="1100" dirty="0"/>
          </a:p>
        </p:txBody>
      </p:sp>
      <p:sp>
        <p:nvSpPr>
          <p:cNvPr id="32" name="Shape 23"/>
          <p:cNvSpPr/>
          <p:nvPr/>
        </p:nvSpPr>
        <p:spPr>
          <a:xfrm>
            <a:off x="548640" y="5257800"/>
            <a:ext cx="11064240" cy="530352"/>
          </a:xfrm>
          <a:prstGeom prst="roundRect">
            <a:avLst>
              <a:gd name="adj" fmla="val 13793"/>
            </a:avLst>
          </a:prstGeom>
          <a:solidFill>
            <a:srgbClr val="241C36"/>
          </a:solidFill>
          <a:ln/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240" y="5404104"/>
            <a:ext cx="219456" cy="219456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1170432" y="5257800"/>
            <a:ext cx="10195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the apply stage behind a protected environment requiring manual approval for production.</a:t>
            </a:r>
            <a:endParaRPr lang="en-US" sz="1100" dirty="0"/>
          </a:p>
        </p:txBody>
      </p:sp>
      <p:sp>
        <p:nvSpPr>
          <p:cNvPr id="35" name="Shape 25"/>
          <p:cNvSpPr/>
          <p:nvPr/>
        </p:nvSpPr>
        <p:spPr>
          <a:xfrm>
            <a:off x="548640" y="5897880"/>
            <a:ext cx="11064240" cy="530352"/>
          </a:xfrm>
          <a:prstGeom prst="roundRect">
            <a:avLst>
              <a:gd name="adj" fmla="val 13793"/>
            </a:avLst>
          </a:prstGeom>
          <a:solidFill>
            <a:srgbClr val="241C36"/>
          </a:solidFill>
          <a:ln/>
        </p:spPr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7240" y="6044184"/>
            <a:ext cx="219456" cy="219456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1170432" y="5897880"/>
            <a:ext cx="10195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any pipeline secrets in the CI's native secret store or a vault, never in repo variables in plaintext.</a:t>
            </a:r>
            <a:endParaRPr lang="en-US" sz="1100" dirty="0"/>
          </a:p>
        </p:txBody>
      </p:sp>
      <p:sp>
        <p:nvSpPr>
          <p:cNvPr id="38" name="Text 27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39" name="Text 28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A8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SECURITY  ×  BEST PRACTICES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&amp; Provider Supply Chain Security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module and provider you call executes with your cloud credentials — treat them like any other dependency.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6035040" cy="3794760"/>
          </a:xfrm>
          <a:prstGeom prst="roundRect">
            <a:avLst>
              <a:gd name="adj" fmla="val 1928"/>
            </a:avLst>
          </a:prstGeom>
          <a:solidFill>
            <a:srgbClr val="120E1C"/>
          </a:solidFill>
          <a:ln w="12700">
            <a:solidFill>
              <a:srgbClr val="2C224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97510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859536" y="197510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005840" y="197510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1901952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versions.tf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68680" y="2286000"/>
            <a:ext cx="539496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 {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required_version =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0B5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"&gt;= 1.7.0"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required_providers {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aws = {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source  =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0B5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"hashicorp/aws"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version =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0B5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"~&gt; 5.40"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8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# pinned, not "&gt;= 5.0"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C8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0B5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"vpc"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source =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0B5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"git::https://github.com/myorg/tf-vpc.git?ref=v2.3.1"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938528"/>
            <a:ext cx="237744" cy="23774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223760" y="192024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module sources to a commit SHA or signed release tag — never a moving branch.</a:t>
            </a:r>
            <a:endParaRPr lang="en-US" sz="11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834640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23760" y="2816352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provider versions with required_providers and commit .terraform.lock.hcl to version control.</a:t>
            </a:r>
            <a:endParaRPr lang="en-US" sz="11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3730752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223760" y="3712464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verified publishers on the public registry, or host an internal private registry for org-wide modules.</a:t>
            </a:r>
            <a:endParaRPr lang="en-US" sz="11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626864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223760" y="4608576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terraform init with -lockfile=readonly in CI so dependencies can't silently drift.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A8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SECURITY  ×  BEST PRACTICES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Organize Code for Safety at Scale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760720" cy="4114800"/>
          </a:xfrm>
          <a:prstGeom prst="roundRect">
            <a:avLst>
              <a:gd name="adj" fmla="val 1778"/>
            </a:avLst>
          </a:prstGeom>
          <a:solidFill>
            <a:srgbClr val="120E1C"/>
          </a:solidFill>
          <a:ln w="12700">
            <a:solidFill>
              <a:srgbClr val="2C224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65506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859536" y="165506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005840" y="165506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1581912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recommended layout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68680" y="1965960"/>
            <a:ext cx="51206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infra/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C8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modules/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A8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# reusable building blocks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vpc/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eks/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C8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environments/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A8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one state per environment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dev/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   ├── main.tf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   └── backend.tf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staging/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prod/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├── main.tf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└── backend.tf</a:t>
            </a:r>
            <a:endParaRPr lang="en-US" sz="12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1600200"/>
            <a:ext cx="292608" cy="2926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086600" y="156362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state file per environment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086600" y="1856232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dev, staging, and prod never share a backend — a mistake in one can't touch another.</a:t>
            </a:r>
            <a:endParaRPr lang="en-US" sz="105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633472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086600" y="259689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composable modules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086600" y="2889504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module owns one concern (network, compute, data) and stays independently testable.</a:t>
            </a:r>
            <a:endParaRPr lang="en-US" sz="105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3666744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086600" y="363016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Environment-specific tfvars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7086600" y="3922776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values live in dev.tfvars / prod.tfvars, never hardcoded inside modules.</a:t>
            </a:r>
            <a:endParaRPr lang="en-US" sz="105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4700016"/>
            <a:ext cx="292608" cy="29260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086600" y="466344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naming &amp; tagging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7086600" y="4956048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naming/tagging convention keeps cost, ownership, and audit trails traceable.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A8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SECURITY  ×  BEST PRACTICES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Collaboration, Version Control &amp; Hygiene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241C36"/>
          </a:solidFill>
          <a:ln/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783080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04672" y="2176272"/>
            <a:ext cx="3054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Branches + PRs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804672" y="2670048"/>
            <a:ext cx="3054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to shared infrastructure goes through a branch and pull request — never a direct push to main.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343400" y="155448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241C36"/>
          </a:solidFill>
          <a:ln/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9432" y="1783080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99432" y="2176272"/>
            <a:ext cx="3054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Code Review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4599432" y="2670048"/>
            <a:ext cx="3054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one peer approves the plan output before merge, especially for prod-facing changes.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8138160" y="155448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241C36"/>
          </a:solidFill>
          <a:ln/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92" y="1783080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394192" y="2176272"/>
            <a:ext cx="3054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Pre-commit Hooks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8394192" y="2670048"/>
            <a:ext cx="3054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terraform fmt, validate, and tflint automatically before a commit is even allowed.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548640" y="374904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241C36"/>
          </a:solidFill>
          <a:ln/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3977640"/>
            <a:ext cx="292608" cy="29260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04672" y="4370832"/>
            <a:ext cx="3054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Meaningful Commits &amp; PRs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804672" y="4864608"/>
            <a:ext cx="3054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 each change to a ticket and describe the why, not just the what, for future audits.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4343400" y="374904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241C36"/>
          </a:solidFill>
          <a:ln/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9432" y="3977640"/>
            <a:ext cx="292608" cy="29260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599432" y="4370832"/>
            <a:ext cx="3054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Documentation</a:t>
            </a:r>
            <a:endParaRPr lang="en-US" sz="1250" dirty="0"/>
          </a:p>
        </p:txBody>
      </p:sp>
      <p:sp>
        <p:nvSpPr>
          <p:cNvPr id="23" name="Text 16"/>
          <p:cNvSpPr/>
          <p:nvPr/>
        </p:nvSpPr>
        <p:spPr>
          <a:xfrm>
            <a:off x="4599432" y="4864608"/>
            <a:ext cx="3054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README input/output tables with terraform-docs so docs never drift from code.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8138160" y="374904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241C36"/>
          </a:solidFill>
          <a:ln/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4192" y="3977640"/>
            <a:ext cx="292608" cy="29260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394192" y="4370832"/>
            <a:ext cx="3054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Drift Continuously</a:t>
            </a:r>
            <a:endParaRPr lang="en-US" sz="1250" dirty="0"/>
          </a:p>
        </p:txBody>
      </p:sp>
      <p:sp>
        <p:nvSpPr>
          <p:cNvPr id="27" name="Text 19"/>
          <p:cNvSpPr/>
          <p:nvPr/>
        </p:nvSpPr>
        <p:spPr>
          <a:xfrm>
            <a:off x="8394192" y="4864608"/>
            <a:ext cx="3054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terraform plan runs catch manual console changes before they cause an incident.</a:t>
            </a:r>
            <a:endParaRPr lang="en-US" sz="1000" dirty="0"/>
          </a:p>
        </p:txBody>
      </p:sp>
      <p:sp>
        <p:nvSpPr>
          <p:cNvPr id="28" name="Text 20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29" name="Text 21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A8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SECURITY  ×  BEST PRACTICES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Terraform Security Checklist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4480560"/>
          </a:xfrm>
          <a:prstGeom prst="roundRect">
            <a:avLst>
              <a:gd name="adj" fmla="val 2449"/>
            </a:avLst>
          </a:prstGeom>
          <a:solidFill>
            <a:srgbClr val="241C36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350008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61872" y="2331720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Remote, encrypted, locked state backend</a:t>
            </a:r>
            <a:endParaRPr lang="en-US" sz="12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099816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61872" y="3081528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secrets in code — sensitive = true + external secret store</a:t>
            </a:r>
            <a:endParaRPr lang="en-US" sz="12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849624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61872" y="3831336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Least-privilege, short-lived IAM via OIDC</a:t>
            </a:r>
            <a:endParaRPr lang="en-US" sz="12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599432"/>
            <a:ext cx="256032" cy="25603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61872" y="4581144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tfsec / Checkov scanning on every plan</a:t>
            </a:r>
            <a:endParaRPr lang="en-US" sz="12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5349240"/>
            <a:ext cx="256032" cy="25603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261872" y="5330952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Pinned module &amp; provider versions + lockfile committed</a:t>
            </a:r>
            <a:endParaRPr lang="en-US" sz="1200" dirty="0"/>
          </a:p>
        </p:txBody>
      </p:sp>
      <p:sp>
        <p:nvSpPr>
          <p:cNvPr id="16" name="Shape 9"/>
          <p:cNvSpPr/>
          <p:nvPr/>
        </p:nvSpPr>
        <p:spPr>
          <a:xfrm>
            <a:off x="6263640" y="1554480"/>
            <a:ext cx="5349240" cy="4480560"/>
          </a:xfrm>
          <a:prstGeom prst="roundRect">
            <a:avLst>
              <a:gd name="adj" fmla="val 2449"/>
            </a:avLst>
          </a:prstGeom>
          <a:solidFill>
            <a:srgbClr val="241C36"/>
          </a:solidFill>
          <a:ln/>
        </p:spPr>
      </p:sp>
      <p:sp>
        <p:nvSpPr>
          <p:cNvPr id="17" name="Text 10"/>
          <p:cNvSpPr/>
          <p:nvPr/>
        </p:nvSpPr>
        <p:spPr>
          <a:xfrm>
            <a:off x="6583680" y="178308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C8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15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0" y="2350008"/>
            <a:ext cx="256032" cy="256032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976872" y="2331720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state per environment (dev/stage/prod)</a:t>
            </a:r>
            <a:endParaRPr lang="en-US" sz="120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0" y="3099816"/>
            <a:ext cx="256032" cy="256032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6976872" y="3081528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composable, well-documented modules</a:t>
            </a:r>
            <a:endParaRPr lang="en-US" sz="1200" dirty="0"/>
          </a:p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3680" y="3849624"/>
            <a:ext cx="256032" cy="256032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6976872" y="3831336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review + pre-commit fmt/validate/tflint</a:t>
            </a:r>
            <a:endParaRPr lang="en-US" sz="1200" dirty="0"/>
          </a:p>
        </p:txBody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3680" y="4599432"/>
            <a:ext cx="256032" cy="256032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6976872" y="4581144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Policy-as-code gate (OPA/Sentinel) before apply</a:t>
            </a:r>
            <a:endParaRPr lang="en-US" sz="1200" dirty="0"/>
          </a:p>
        </p:txBody>
      </p:sp>
      <p:pic>
        <p:nvPicPr>
          <p:cNvPr id="2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83680" y="5349240"/>
            <a:ext cx="256032" cy="256032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6976872" y="5330952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drift detection and tagging conventions</a:t>
            </a:r>
            <a:endParaRPr lang="en-US" sz="1200" dirty="0"/>
          </a:p>
        </p:txBody>
      </p:sp>
      <p:sp>
        <p:nvSpPr>
          <p:cNvPr id="28" name="Text 16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29" name="Text 17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A8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SECURITY  ×  BEST PRACTICES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241C3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Further Reading &amp; Resources</a:t>
            </a:r>
            <a:endParaRPr lang="en-US" sz="3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99616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146304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State documentation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960120" y="1737360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developer.hashicorp.com/terraform/language/state</a:t>
            </a:r>
            <a:endParaRPr lang="en-US" sz="10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21408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60120" y="208483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input &amp; output values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960120" y="2359152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developer.hashicorp.com/terraform/language/values/variables#suppressing-values-in-cli-output</a:t>
            </a:r>
            <a:endParaRPr lang="en-US" sz="10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743200"/>
            <a:ext cx="237744" cy="23774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0120" y="2706624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security best practices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960120" y="2980944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developer.hashicorp.com/well-architected-framework/security</a:t>
            </a:r>
            <a:endParaRPr lang="en-US" sz="10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364992"/>
            <a:ext cx="237744" cy="23774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60120" y="332841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tfsec — static analysis for Terraform</a:t>
            </a:r>
            <a:endParaRPr lang="en-US" sz="1250" dirty="0"/>
          </a:p>
        </p:txBody>
      </p:sp>
      <p:sp>
        <p:nvSpPr>
          <p:cNvPr id="16" name="Text 10"/>
          <p:cNvSpPr/>
          <p:nvPr/>
        </p:nvSpPr>
        <p:spPr>
          <a:xfrm>
            <a:off x="960120" y="3602736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github.com/aquasecurity/tfsec</a:t>
            </a:r>
            <a:endParaRPr lang="en-US" sz="10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986784"/>
            <a:ext cx="237744" cy="23774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960120" y="395020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Checkov — policy-as-code scanner</a:t>
            </a:r>
            <a:endParaRPr lang="en-US" sz="1250" dirty="0"/>
          </a:p>
        </p:txBody>
      </p:sp>
      <p:sp>
        <p:nvSpPr>
          <p:cNvPr id="19" name="Text 12"/>
          <p:cNvSpPr/>
          <p:nvPr/>
        </p:nvSpPr>
        <p:spPr>
          <a:xfrm>
            <a:off x="960120" y="4224528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checkov.io</a:t>
            </a:r>
            <a:endParaRPr lang="en-US" sz="10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4608576"/>
            <a:ext cx="237744" cy="237744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960120" y="457200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Policy Agent (OPA)</a:t>
            </a:r>
            <a:endParaRPr lang="en-US" sz="1250" dirty="0"/>
          </a:p>
        </p:txBody>
      </p:sp>
      <p:sp>
        <p:nvSpPr>
          <p:cNvPr id="22" name="Text 14"/>
          <p:cNvSpPr/>
          <p:nvPr/>
        </p:nvSpPr>
        <p:spPr>
          <a:xfrm>
            <a:off x="960120" y="4846320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openpolicyagent.org</a:t>
            </a:r>
            <a:endParaRPr lang="en-US" sz="100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5230368"/>
            <a:ext cx="237744" cy="237744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960120" y="519379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HashiCorp Sentinel</a:t>
            </a:r>
            <a:endParaRPr lang="en-US" sz="1250" dirty="0"/>
          </a:p>
        </p:txBody>
      </p:sp>
      <p:sp>
        <p:nvSpPr>
          <p:cNvPr id="25" name="Text 16"/>
          <p:cNvSpPr/>
          <p:nvPr/>
        </p:nvSpPr>
        <p:spPr>
          <a:xfrm>
            <a:off x="960120" y="5468112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developer.hashicorp.com/sentinel</a:t>
            </a:r>
            <a:endParaRPr lang="en-US" sz="1000" dirty="0"/>
          </a:p>
        </p:txBody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" y="5852160"/>
            <a:ext cx="237744" cy="237744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960120" y="5815584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terraform-docs — README generation</a:t>
            </a:r>
            <a:endParaRPr lang="en-US" sz="1250" dirty="0"/>
          </a:p>
        </p:txBody>
      </p:sp>
      <p:sp>
        <p:nvSpPr>
          <p:cNvPr id="28" name="Text 18"/>
          <p:cNvSpPr/>
          <p:nvPr/>
        </p:nvSpPr>
        <p:spPr>
          <a:xfrm>
            <a:off x="960120" y="6089904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terraform-docs.io</a:t>
            </a:r>
            <a:endParaRPr lang="en-US" sz="1000" dirty="0"/>
          </a:p>
        </p:txBody>
      </p:sp>
      <p:sp>
        <p:nvSpPr>
          <p:cNvPr id="29" name="Shape 19"/>
          <p:cNvSpPr/>
          <p:nvPr/>
        </p:nvSpPr>
        <p:spPr>
          <a:xfrm>
            <a:off x="7406640" y="1600200"/>
            <a:ext cx="4206240" cy="4206240"/>
          </a:xfrm>
          <a:prstGeom prst="roundRect">
            <a:avLst>
              <a:gd name="adj" fmla="val 2609"/>
            </a:avLst>
          </a:prstGeom>
          <a:solidFill>
            <a:srgbClr val="241C36"/>
          </a:solidFill>
          <a:ln w="12700">
            <a:solidFill>
              <a:srgbClr val="2C2244"/>
            </a:solidFill>
            <a:prstDash val="solid"/>
          </a:ln>
        </p:spPr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52560" y="2103120"/>
            <a:ext cx="914400" cy="914400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7680960" y="32461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Stay Secure.</a:t>
            </a:r>
            <a:endParaRPr lang="en-US" sz="2200" dirty="0"/>
          </a:p>
        </p:txBody>
      </p:sp>
      <p:sp>
        <p:nvSpPr>
          <p:cNvPr id="32" name="Text 21"/>
          <p:cNvSpPr/>
          <p:nvPr/>
        </p:nvSpPr>
        <p:spPr>
          <a:xfrm>
            <a:off x="7680960" y="374904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your Terraform code, state,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pipeline like production itself.</a:t>
            </a:r>
            <a:endParaRPr lang="en-US" sz="1200" dirty="0"/>
          </a:p>
        </p:txBody>
      </p:sp>
      <p:sp>
        <p:nvSpPr>
          <p:cNvPr id="33" name="Text 22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2026-07-10T03:50:39Z</dcterms:created>
  <dcterms:modified xsi:type="dcterms:W3CDTF">2026-07-10T03:50:39Z</dcterms:modified>
</cp:coreProperties>
</file>