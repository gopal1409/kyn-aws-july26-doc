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5C4EE5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FF9900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777240" cy="777240"/>
          </a:xfrm>
          <a:prstGeom prst="ellipse">
            <a:avLst/>
          </a:prstGeom>
          <a:solidFill>
            <a:srgbClr val="5C4EE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042" y="979322"/>
            <a:ext cx="373075" cy="3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8745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 ·  AWS  ·  INFRASTRUCTURE AS CODE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2286000"/>
            <a:ext cx="1051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 Complete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Network &amp; Compute Stack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822960" y="425196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E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concept-by-concept walkthrough of the Terraform configuration — providers, variables, VPC networking, dynamic blocks, data sources, and multi-AZ EC2 deployment.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58064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  </a:t>
            </a:r>
            <a:pPr indent="0" marL="0">
              <a:buNone/>
            </a:pPr>
            <a:r>
              <a:rPr lang="en-US" sz="1050" b="1" spc="100" kern="0" dirty="0">
                <a:solidFill>
                  <a:srgbClr val="8B9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COVERED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069080" y="58064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buNone/>
            </a:pPr>
            <a:r>
              <a:rPr lang="en-US" sz="1050" b="1" spc="100" kern="0" dirty="0">
                <a:solidFill>
                  <a:srgbClr val="8B9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AZS DEPLOYED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315200" y="58064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 </a:t>
            </a:r>
            <a:pPr indent="0" marL="0">
              <a:buNone/>
            </a:pPr>
            <a:r>
              <a:rPr lang="en-US" sz="1050" b="1" spc="100" kern="0" dirty="0">
                <a:solidFill>
                  <a:srgbClr val="8B9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CREATED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DECK COVERS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896112"/>
          </a:xfrm>
          <a:prstGeom prst="roundRect">
            <a:avLst>
              <a:gd name="adj" fmla="val 7143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691640"/>
            <a:ext cx="731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4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00200" y="18105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&amp; Version Pinning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600200" y="21671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block, AWS provider, region variable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691640"/>
            <a:ext cx="5349240" cy="896112"/>
          </a:xfrm>
          <a:prstGeom prst="roundRect">
            <a:avLst>
              <a:gd name="adj" fmla="val 7143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6510528" y="1691640"/>
            <a:ext cx="731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4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269480" y="18105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&amp; Locals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269480" y="21671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values, tag merging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752344"/>
            <a:ext cx="5349240" cy="896112"/>
          </a:xfrm>
          <a:prstGeom prst="roundRect">
            <a:avLst>
              <a:gd name="adj" fmla="val 7143"/>
            </a:avLst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2752344"/>
            <a:ext cx="731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4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00200" y="287121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&amp; Networking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600200" y="32278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CIDR blocks, DNS support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2752344"/>
            <a:ext cx="5349240" cy="896112"/>
          </a:xfrm>
          <a:prstGeom prst="roundRect">
            <a:avLst>
              <a:gd name="adj" fmla="val 7143"/>
            </a:avLst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6510528" y="2752344"/>
            <a:ext cx="731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4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269480" y="287121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Subnets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269480" y="32278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for_each loops across 3 AZs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813048"/>
            <a:ext cx="5349240" cy="896112"/>
          </a:xfrm>
          <a:prstGeom prst="roundRect">
            <a:avLst>
              <a:gd name="adj" fmla="val 7143"/>
            </a:avLst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3813048"/>
            <a:ext cx="731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4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600200" y="39319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&amp; Internet Access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600200" y="428853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Gateway + Route Table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9360" y="3813048"/>
            <a:ext cx="5349240" cy="896112"/>
          </a:xfrm>
          <a:prstGeom prst="roundRect">
            <a:avLst>
              <a:gd name="adj" fmla="val 7143"/>
            </a:avLst>
          </a:prstGeom>
          <a:solidFill>
            <a:srgbClr val="1B2A4A"/>
          </a:solidFill>
          <a:ln/>
        </p:spPr>
      </p:sp>
      <p:sp>
        <p:nvSpPr>
          <p:cNvPr id="25" name="Text 23"/>
          <p:cNvSpPr/>
          <p:nvPr/>
        </p:nvSpPr>
        <p:spPr>
          <a:xfrm>
            <a:off x="6510528" y="3813048"/>
            <a:ext cx="731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4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269480" y="39319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Subnets &amp; NAT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269480" y="428853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isolation pattern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4873752"/>
            <a:ext cx="5349240" cy="896112"/>
          </a:xfrm>
          <a:prstGeom prst="roundRect">
            <a:avLst>
              <a:gd name="adj" fmla="val 7143"/>
            </a:avLst>
          </a:prstGeom>
          <a:solidFill>
            <a:srgbClr val="1B2A4A"/>
          </a:solidFill>
          <a:ln/>
        </p:spPr>
      </p:sp>
      <p:sp>
        <p:nvSpPr>
          <p:cNvPr id="29" name="Text 27"/>
          <p:cNvSpPr/>
          <p:nvPr/>
        </p:nvSpPr>
        <p:spPr>
          <a:xfrm>
            <a:off x="841248" y="4873752"/>
            <a:ext cx="731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4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600200" y="499262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Groups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1600200" y="5349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ingress / egress blocks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09360" y="4873752"/>
            <a:ext cx="5349240" cy="896112"/>
          </a:xfrm>
          <a:prstGeom prst="roundRect">
            <a:avLst>
              <a:gd name="adj" fmla="val 7143"/>
            </a:avLst>
          </a:prstGeom>
          <a:solidFill>
            <a:srgbClr val="1B2A4A"/>
          </a:solidFill>
          <a:ln/>
        </p:spPr>
      </p:sp>
      <p:sp>
        <p:nvSpPr>
          <p:cNvPr id="33" name="Text 31"/>
          <p:cNvSpPr/>
          <p:nvPr/>
        </p:nvSpPr>
        <p:spPr>
          <a:xfrm>
            <a:off x="6510528" y="4873752"/>
            <a:ext cx="731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4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7269480" y="499262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&amp; Keys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7269480" y="5349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Ubuntu AMI lookup, SSH key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0080" y="5934456"/>
            <a:ext cx="5349240" cy="896112"/>
          </a:xfrm>
          <a:prstGeom prst="roundRect">
            <a:avLst>
              <a:gd name="adj" fmla="val 7143"/>
            </a:avLst>
          </a:prstGeom>
          <a:solidFill>
            <a:srgbClr val="1B2A4A"/>
          </a:solidFill>
          <a:ln/>
        </p:spPr>
      </p:sp>
      <p:sp>
        <p:nvSpPr>
          <p:cNvPr id="37" name="Text 35"/>
          <p:cNvSpPr/>
          <p:nvPr/>
        </p:nvSpPr>
        <p:spPr>
          <a:xfrm>
            <a:off x="841248" y="5934456"/>
            <a:ext cx="731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4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1600200" y="60533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Instances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1600200" y="640994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Multi-AZ compute with user_data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309360" y="5934456"/>
            <a:ext cx="5349240" cy="896112"/>
          </a:xfrm>
          <a:prstGeom prst="roundRect">
            <a:avLst>
              <a:gd name="adj" fmla="val 7143"/>
            </a:avLst>
          </a:prstGeom>
          <a:solidFill>
            <a:srgbClr val="1B2A4A"/>
          </a:solidFill>
          <a:ln/>
        </p:spPr>
      </p:sp>
      <p:sp>
        <p:nvSpPr>
          <p:cNvPr id="41" name="Text 39"/>
          <p:cNvSpPr/>
          <p:nvPr/>
        </p:nvSpPr>
        <p:spPr>
          <a:xfrm>
            <a:off x="6510528" y="5934456"/>
            <a:ext cx="731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4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7269480" y="60533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&amp; Resource Flow</a:t>
            </a:r>
            <a:endParaRPr lang="en-US" sz="1450" dirty="0"/>
          </a:p>
        </p:txBody>
      </p:sp>
      <p:sp>
        <p:nvSpPr>
          <p:cNvPr id="43" name="Text 41"/>
          <p:cNvSpPr/>
          <p:nvPr/>
        </p:nvSpPr>
        <p:spPr>
          <a:xfrm>
            <a:off x="7269480" y="640994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returned, in what order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1-2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Terraform Block &amp; AWS Provider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terraform block declares which provider Terraform needs and locks its version, so the same configuration behaves the same way every time it runs.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394960" cy="3657600"/>
          </a:xfrm>
          <a:prstGeom prst="roundRect">
            <a:avLst>
              <a:gd name="adj" fmla="val 2000"/>
            </a:avLst>
          </a:prstGeom>
          <a:solidFill>
            <a:srgbClr val="121A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266090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266090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024128" y="266090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2898648"/>
            <a:ext cx="488289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{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required_providers {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aws = {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source  = "hashicorp/aws"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version = "~&gt; 6.0"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 "aws" {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region = var.aws_region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55080" y="1417320"/>
            <a:ext cx="530352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75120" y="1737360"/>
            <a:ext cx="502920" cy="502920"/>
          </a:xfrm>
          <a:prstGeom prst="ellipse">
            <a:avLst/>
          </a:prstGeom>
          <a:solidFill>
            <a:srgbClr val="E4E0FB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5879" y="1868119"/>
            <a:ext cx="241402" cy="24140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315200" y="17830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Version Pinning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6675120" y="23317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"~&gt; 6.0"  allows any 6.x release, blocking 7.0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675120" y="2880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675120" y="3200400"/>
            <a:ext cx="777240" cy="384048"/>
          </a:xfrm>
          <a:prstGeom prst="roundRect">
            <a:avLst>
              <a:gd name="adj" fmla="val 14286"/>
            </a:avLst>
          </a:prstGeom>
          <a:solidFill>
            <a:srgbClr val="E7F8EF"/>
          </a:solidFill>
          <a:ln/>
        </p:spPr>
      </p:sp>
      <p:sp>
        <p:nvSpPr>
          <p:cNvPr id="17" name="Text 14"/>
          <p:cNvSpPr/>
          <p:nvPr/>
        </p:nvSpPr>
        <p:spPr>
          <a:xfrm>
            <a:off x="6675120" y="320040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A3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6.0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571232" y="3200400"/>
            <a:ext cx="777240" cy="384048"/>
          </a:xfrm>
          <a:prstGeom prst="roundRect">
            <a:avLst>
              <a:gd name="adj" fmla="val 14286"/>
            </a:avLst>
          </a:prstGeom>
          <a:solidFill>
            <a:srgbClr val="E7F8EF"/>
          </a:solidFill>
          <a:ln/>
        </p:spPr>
      </p:sp>
      <p:sp>
        <p:nvSpPr>
          <p:cNvPr id="19" name="Text 16"/>
          <p:cNvSpPr/>
          <p:nvPr/>
        </p:nvSpPr>
        <p:spPr>
          <a:xfrm>
            <a:off x="7571232" y="320040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A3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6.1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8467344" y="3200400"/>
            <a:ext cx="777240" cy="384048"/>
          </a:xfrm>
          <a:prstGeom prst="roundRect">
            <a:avLst>
              <a:gd name="adj" fmla="val 14286"/>
            </a:avLst>
          </a:prstGeom>
          <a:solidFill>
            <a:srgbClr val="E7F8EF"/>
          </a:solidFill>
          <a:ln/>
        </p:spPr>
      </p:sp>
      <p:sp>
        <p:nvSpPr>
          <p:cNvPr id="21" name="Text 18"/>
          <p:cNvSpPr/>
          <p:nvPr/>
        </p:nvSpPr>
        <p:spPr>
          <a:xfrm>
            <a:off x="8467344" y="320040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A3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6.2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363456" y="3200400"/>
            <a:ext cx="777240" cy="384048"/>
          </a:xfrm>
          <a:prstGeom prst="roundRect">
            <a:avLst>
              <a:gd name="adj" fmla="val 14286"/>
            </a:avLst>
          </a:prstGeom>
          <a:solidFill>
            <a:srgbClr val="E7F8EF"/>
          </a:solidFill>
          <a:ln/>
        </p:spPr>
      </p:sp>
      <p:sp>
        <p:nvSpPr>
          <p:cNvPr id="23" name="Text 20"/>
          <p:cNvSpPr/>
          <p:nvPr/>
        </p:nvSpPr>
        <p:spPr>
          <a:xfrm>
            <a:off x="9363456" y="320040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A3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6.5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10259568" y="3200400"/>
            <a:ext cx="777240" cy="384048"/>
          </a:xfrm>
          <a:prstGeom prst="roundRect">
            <a:avLst>
              <a:gd name="adj" fmla="val 14286"/>
            </a:avLst>
          </a:prstGeom>
          <a:solidFill>
            <a:srgbClr val="E7F8EF"/>
          </a:solidFill>
          <a:ln/>
        </p:spPr>
      </p:sp>
      <p:sp>
        <p:nvSpPr>
          <p:cNvPr id="25" name="Text 22"/>
          <p:cNvSpPr/>
          <p:nvPr/>
        </p:nvSpPr>
        <p:spPr>
          <a:xfrm>
            <a:off x="10259568" y="320040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A3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6.18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6675120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675120" y="4114800"/>
            <a:ext cx="777240" cy="384048"/>
          </a:xfrm>
          <a:prstGeom prst="roundRect">
            <a:avLst>
              <a:gd name="adj" fmla="val 14286"/>
            </a:avLst>
          </a:prstGeom>
          <a:solidFill>
            <a:srgbClr val="FCEAEA"/>
          </a:solidFill>
          <a:ln/>
        </p:spPr>
      </p:sp>
      <p:sp>
        <p:nvSpPr>
          <p:cNvPr id="28" name="Text 25"/>
          <p:cNvSpPr/>
          <p:nvPr/>
        </p:nvSpPr>
        <p:spPr>
          <a:xfrm>
            <a:off x="6675120" y="411480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64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7.0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7571232" y="4114800"/>
            <a:ext cx="777240" cy="384048"/>
          </a:xfrm>
          <a:prstGeom prst="roundRect">
            <a:avLst>
              <a:gd name="adj" fmla="val 14286"/>
            </a:avLst>
          </a:prstGeom>
          <a:solidFill>
            <a:srgbClr val="FCEAEA"/>
          </a:solidFill>
          <a:ln/>
        </p:spPr>
      </p:sp>
      <p:sp>
        <p:nvSpPr>
          <p:cNvPr id="30" name="Text 27"/>
          <p:cNvSpPr/>
          <p:nvPr/>
        </p:nvSpPr>
        <p:spPr>
          <a:xfrm>
            <a:off x="7571232" y="411480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64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5.90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675120" y="4754880"/>
            <a:ext cx="4709160" cy="9144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32" name="Text 29"/>
          <p:cNvSpPr/>
          <p:nvPr/>
        </p:nvSpPr>
        <p:spPr>
          <a:xfrm>
            <a:off x="6675120" y="493776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environments always pin provider versions to avoid unexpected breaking changes.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3, 5, 6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Variables, Locals &amp; the merge() Function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66160" cy="461772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83080"/>
            <a:ext cx="502920" cy="502920"/>
          </a:xfrm>
          <a:prstGeom prst="ellipse">
            <a:avLst/>
          </a:prstGeom>
          <a:solidFill>
            <a:srgbClr val="E4E0F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439" y="191383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288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33172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for your configuration — define once, use everywhere.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77240" y="3154680"/>
            <a:ext cx="3154680" cy="1874520"/>
          </a:xfrm>
          <a:prstGeom prst="roundRect">
            <a:avLst>
              <a:gd name="adj" fmla="val 3902"/>
            </a:avLst>
          </a:prstGeom>
          <a:solidFill>
            <a:srgbClr val="121A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41832" y="330098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8"/>
          <p:cNvSpPr/>
          <p:nvPr/>
        </p:nvSpPr>
        <p:spPr>
          <a:xfrm>
            <a:off x="1097280" y="330098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9"/>
          <p:cNvSpPr/>
          <p:nvPr/>
        </p:nvSpPr>
        <p:spPr>
          <a:xfrm>
            <a:off x="1252728" y="330098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0"/>
          <p:cNvSpPr/>
          <p:nvPr/>
        </p:nvSpPr>
        <p:spPr>
          <a:xfrm>
            <a:off x="1033272" y="3538728"/>
            <a:ext cx="264261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 "aws_region" {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 = "us-east-1"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usage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 = var.aws_region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68680" y="5166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4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var.aws_region  →  us-east-1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68680" y="5577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· environment independent · easy to change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315968" y="1508760"/>
            <a:ext cx="3566160" cy="461772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636008" y="1783080"/>
            <a:ext cx="502920" cy="502920"/>
          </a:xfrm>
          <a:prstGeom prst="ellipse">
            <a:avLst/>
          </a:prstGeom>
          <a:solidFill>
            <a:srgbClr val="E4E0FB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767" y="1913839"/>
            <a:ext cx="241402" cy="24140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276088" y="18288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4636008" y="233172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reusable values inside the module — no repeated typing.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4544568" y="3154680"/>
            <a:ext cx="3154680" cy="1874520"/>
          </a:xfrm>
          <a:prstGeom prst="roundRect">
            <a:avLst>
              <a:gd name="adj" fmla="val 3902"/>
            </a:avLst>
          </a:prstGeom>
          <a:solidFill>
            <a:srgbClr val="121A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709160" y="330098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3" name="Shape 19"/>
          <p:cNvSpPr/>
          <p:nvPr/>
        </p:nvSpPr>
        <p:spPr>
          <a:xfrm>
            <a:off x="4864608" y="330098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4" name="Shape 20"/>
          <p:cNvSpPr/>
          <p:nvPr/>
        </p:nvSpPr>
        <p:spPr>
          <a:xfrm>
            <a:off x="5020056" y="330098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5" name="Text 21"/>
          <p:cNvSpPr/>
          <p:nvPr/>
        </p:nvSpPr>
        <p:spPr>
          <a:xfrm>
            <a:off x="4800600" y="3538728"/>
            <a:ext cx="264261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locals {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project_tags = {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Project     = "skyrocket"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Environment = "dev"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Owner       = "SAP"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4636008" y="5166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once instead of 3x per resource.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8083296" y="1508760"/>
            <a:ext cx="3566160" cy="4617720"/>
          </a:xfrm>
          <a:prstGeom prst="roundRect">
            <a:avLst>
              <a:gd name="adj" fmla="val 2051"/>
            </a:avLst>
          </a:prstGeom>
          <a:solidFill>
            <a:srgbClr val="121A2E"/>
          </a:solidFill>
          <a:ln/>
        </p:spPr>
      </p:sp>
      <p:sp>
        <p:nvSpPr>
          <p:cNvPr id="28" name="Shape 24"/>
          <p:cNvSpPr/>
          <p:nvPr/>
        </p:nvSpPr>
        <p:spPr>
          <a:xfrm>
            <a:off x="8403336" y="1783080"/>
            <a:ext cx="502920" cy="502920"/>
          </a:xfrm>
          <a:prstGeom prst="ellipse">
            <a:avLst/>
          </a:prstGeom>
          <a:solidFill>
            <a:srgbClr val="5C4EE5"/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095" y="1913839"/>
            <a:ext cx="241402" cy="241402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9043416" y="18288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merge()</a:t>
            </a:r>
            <a:endParaRPr lang="en-US" sz="1600" dirty="0"/>
          </a:p>
        </p:txBody>
      </p:sp>
      <p:sp>
        <p:nvSpPr>
          <p:cNvPr id="31" name="Text 26"/>
          <p:cNvSpPr/>
          <p:nvPr/>
        </p:nvSpPr>
        <p:spPr>
          <a:xfrm>
            <a:off x="8403336" y="23317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E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local tags with per-resource overrides.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8403336" y="29718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tags = merge(local.project_tags,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Name = "skyrocketvpc" })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8403336" y="3758184"/>
            <a:ext cx="82296" cy="8229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4" name="Text 29"/>
          <p:cNvSpPr/>
          <p:nvPr/>
        </p:nvSpPr>
        <p:spPr>
          <a:xfrm>
            <a:off x="8595360" y="36576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250" dirty="0"/>
          </a:p>
        </p:txBody>
      </p:sp>
      <p:sp>
        <p:nvSpPr>
          <p:cNvPr id="35" name="Shape 30"/>
          <p:cNvSpPr/>
          <p:nvPr/>
        </p:nvSpPr>
        <p:spPr>
          <a:xfrm>
            <a:off x="8403336" y="4142232"/>
            <a:ext cx="82296" cy="8229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6" name="Text 31"/>
          <p:cNvSpPr/>
          <p:nvPr/>
        </p:nvSpPr>
        <p:spPr>
          <a:xfrm>
            <a:off x="8595360" y="404164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250" dirty="0"/>
          </a:p>
        </p:txBody>
      </p:sp>
      <p:sp>
        <p:nvSpPr>
          <p:cNvPr id="37" name="Shape 32"/>
          <p:cNvSpPr/>
          <p:nvPr/>
        </p:nvSpPr>
        <p:spPr>
          <a:xfrm>
            <a:off x="8403336" y="4526280"/>
            <a:ext cx="82296" cy="8229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8" name="Text 33"/>
          <p:cNvSpPr/>
          <p:nvPr/>
        </p:nvSpPr>
        <p:spPr>
          <a:xfrm>
            <a:off x="8595360" y="442569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250" dirty="0"/>
          </a:p>
        </p:txBody>
      </p:sp>
      <p:sp>
        <p:nvSpPr>
          <p:cNvPr id="39" name="Shape 34"/>
          <p:cNvSpPr/>
          <p:nvPr/>
        </p:nvSpPr>
        <p:spPr>
          <a:xfrm>
            <a:off x="8403336" y="4910328"/>
            <a:ext cx="82296" cy="8229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40" name="Text 35"/>
          <p:cNvSpPr/>
          <p:nvPr/>
        </p:nvSpPr>
        <p:spPr>
          <a:xfrm>
            <a:off x="8595360" y="480974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250" dirty="0"/>
          </a:p>
        </p:txBody>
      </p:sp>
      <p:sp>
        <p:nvSpPr>
          <p:cNvPr id="41" name="Text 3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VPC — Your Private Network in AWS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VPC (Virtual Private Cloud) is an isolated network inside AWS. Every resource in this configuration lives inside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394960" cy="3840480"/>
          </a:xfrm>
          <a:prstGeom prst="roundRect">
            <a:avLst>
              <a:gd name="adj" fmla="val 2381"/>
            </a:avLst>
          </a:prstGeom>
          <a:solidFill>
            <a:srgbClr val="E4E0FB"/>
          </a:solidFill>
          <a:ln w="19050">
            <a:solidFill>
              <a:srgbClr val="5C4EE5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822960" y="2514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VPC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10.0.0.0/16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65,536 IP addresses · 10.0.0.0 – 10.0.255.255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3703320"/>
            <a:ext cx="4846320" cy="9144"/>
          </a:xfrm>
          <a:prstGeom prst="rect">
            <a:avLst/>
          </a:prstGeom>
          <a:solidFill>
            <a:srgbClr val="5C4EE5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9319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4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enable_dns_support = true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42245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AWS-internal DNS resolution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449884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ip-10-0-1-15.ec2.internal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86460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4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enable_dns_hostnames = true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515721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DNS hostnames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543153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ec2-52-20-30-40.compute.amazonaws.com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63640" y="2331720"/>
            <a:ext cx="5394960" cy="3840480"/>
          </a:xfrm>
          <a:prstGeom prst="roundRect">
            <a:avLst>
              <a:gd name="adj" fmla="val 1905"/>
            </a:avLst>
          </a:prstGeom>
          <a:solidFill>
            <a:srgbClr val="121A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28232" y="247802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8" name="Shape 16"/>
          <p:cNvSpPr/>
          <p:nvPr/>
        </p:nvSpPr>
        <p:spPr>
          <a:xfrm>
            <a:off x="6583680" y="247802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9" name="Shape 17"/>
          <p:cNvSpPr/>
          <p:nvPr/>
        </p:nvSpPr>
        <p:spPr>
          <a:xfrm>
            <a:off x="6739128" y="247802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0" name="Text 18"/>
          <p:cNvSpPr/>
          <p:nvPr/>
        </p:nvSpPr>
        <p:spPr>
          <a:xfrm>
            <a:off x="6519672" y="2715768"/>
            <a:ext cx="488289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"aws_vpc" "my_vpc" {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cidr_block = var.vpc_cidr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enable_dns_support   = true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enable_dns_hostnames = true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tags = merge(local.project_tags, {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= "skyrocketvpc-gopal"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7-8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Subnets — Looping with for_each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web_subnet variable is a map of objects. Because the subnet resource uses for_each = var.web_subnet, Terraform loops through it once per entry — no copy-pasted resource blocks.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120640" cy="2286000"/>
          </a:xfrm>
          <a:prstGeom prst="roundRect">
            <a:avLst>
              <a:gd name="adj" fmla="val 3200"/>
            </a:avLst>
          </a:prstGeom>
          <a:solidFill>
            <a:srgbClr val="121A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229514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229514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024128" y="229514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2532888"/>
            <a:ext cx="46085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"aws_subnet" "web_subnet" {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for_each = var.web_subnet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vpc_id            = aws_vpc.my_vpc.id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cidr_block        = each.value.cidr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availability_zone = each.value.az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455371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each.key → subnet1, subnet2, subnet3     each.value → { az, cidr }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72200" y="2148840"/>
            <a:ext cx="54864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73368" y="2423160"/>
            <a:ext cx="731520" cy="731520"/>
          </a:xfrm>
          <a:prstGeom prst="ellipse">
            <a:avLst/>
          </a:prstGeom>
          <a:solidFill>
            <a:srgbClr val="E4E0FB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3563" y="2613355"/>
            <a:ext cx="351130" cy="35113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315200" y="23134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subnet1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0378440" y="231343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1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315200" y="271576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  </a:t>
            </a:r>
            <a:pPr indent="0" marL="0">
              <a:buNone/>
            </a:pPr>
            <a:r>
              <a:rPr lang="en-US" sz="1200" dirty="0">
                <a:solidFill>
                  <a:srgbClr val="1E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us-east-1a     </a:t>
            </a:r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CIDR  </a:t>
            </a:r>
            <a:pPr indent="0" marL="0">
              <a:buNone/>
            </a:pPr>
            <a:r>
              <a:rPr lang="en-US" sz="1200" dirty="0">
                <a:solidFill>
                  <a:srgbClr val="1E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10.0.1.0/24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172200" y="3657600"/>
            <a:ext cx="54864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373368" y="3931920"/>
            <a:ext cx="731520" cy="731520"/>
          </a:xfrm>
          <a:prstGeom prst="ellipse">
            <a:avLst/>
          </a:prstGeom>
          <a:solidFill>
            <a:srgbClr val="E4E0FB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3563" y="4122115"/>
            <a:ext cx="351130" cy="35113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315200" y="38221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subnet2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10378440" y="382219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2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7315200" y="422452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  </a:t>
            </a:r>
            <a:pPr indent="0" marL="0">
              <a:buNone/>
            </a:pPr>
            <a:r>
              <a:rPr lang="en-US" sz="1200" dirty="0">
                <a:solidFill>
                  <a:srgbClr val="1E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us-east-1b     </a:t>
            </a:r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CIDR  </a:t>
            </a:r>
            <a:pPr indent="0" marL="0">
              <a:buNone/>
            </a:pPr>
            <a:r>
              <a:rPr lang="en-US" sz="1200" dirty="0">
                <a:solidFill>
                  <a:srgbClr val="1E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10.0.2.0/24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6172200" y="5166360"/>
            <a:ext cx="54864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373368" y="5440680"/>
            <a:ext cx="731520" cy="731520"/>
          </a:xfrm>
          <a:prstGeom prst="ellipse">
            <a:avLst/>
          </a:prstGeom>
          <a:solidFill>
            <a:srgbClr val="E4E0FB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3563" y="5630875"/>
            <a:ext cx="351130" cy="35113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315200" y="53309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subnet3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10378440" y="533095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3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7315200" y="573328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  </a:t>
            </a:r>
            <a:pPr indent="0" marL="0">
              <a:buNone/>
            </a:pPr>
            <a:r>
              <a:rPr lang="en-US" sz="1200" dirty="0">
                <a:solidFill>
                  <a:srgbClr val="1E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us-east-1c     </a:t>
            </a:r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CIDR  </a:t>
            </a:r>
            <a:pPr indent="0" marL="0">
              <a:buNone/>
            </a:pPr>
            <a:r>
              <a:rPr lang="en-US" sz="1200" dirty="0">
                <a:solidFill>
                  <a:srgbClr val="1E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10.0.3.0/24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9-11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Internet Gateway &amp; Route Table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Internet Gateway attaches to the VPC; the route table tells subnets where non-local traffic should go; the association links each subnet to that route table.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24688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606040"/>
            <a:ext cx="594360" cy="594360"/>
          </a:xfrm>
          <a:prstGeom prst="ellipse">
            <a:avLst/>
          </a:prstGeom>
          <a:solidFill>
            <a:srgbClr val="E4E0F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206" y="2760574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37744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108960" y="2903220"/>
            <a:ext cx="548640" cy="0"/>
          </a:xfrm>
          <a:prstGeom prst="line">
            <a:avLst/>
          </a:prstGeom>
          <a:noFill/>
          <a:ln w="31750">
            <a:solidFill>
              <a:srgbClr val="FF9900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657600" y="2377440"/>
            <a:ext cx="24688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822192" y="2606040"/>
            <a:ext cx="594360" cy="594360"/>
          </a:xfrm>
          <a:prstGeom prst="ellipse">
            <a:avLst/>
          </a:prstGeom>
          <a:solidFill>
            <a:srgbClr val="E4E0F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726" y="276057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26280" y="237744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26480" y="2903220"/>
            <a:ext cx="548640" cy="0"/>
          </a:xfrm>
          <a:prstGeom prst="line">
            <a:avLst/>
          </a:prstGeom>
          <a:noFill/>
          <a:ln w="31750">
            <a:solidFill>
              <a:srgbClr val="FF9900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6675120" y="2377440"/>
            <a:ext cx="24688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839712" y="2606040"/>
            <a:ext cx="594360" cy="594360"/>
          </a:xfrm>
          <a:prstGeom prst="ellipse">
            <a:avLst/>
          </a:prstGeom>
          <a:solidFill>
            <a:srgbClr val="E4E0F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4246" y="2760574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543800" y="237744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Table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0.0.0.0/0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9144000" y="2903220"/>
            <a:ext cx="548640" cy="0"/>
          </a:xfrm>
          <a:prstGeom prst="line">
            <a:avLst/>
          </a:prstGeom>
          <a:noFill/>
          <a:ln w="31750">
            <a:solidFill>
              <a:srgbClr val="FF9900"/>
            </a:solidFill>
            <a:prstDash val="solid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9692640" y="2377440"/>
            <a:ext cx="24688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857232" y="2606040"/>
            <a:ext cx="594360" cy="594360"/>
          </a:xfrm>
          <a:prstGeom prst="ellipse">
            <a:avLst/>
          </a:prstGeom>
          <a:solidFill>
            <a:srgbClr val="E4E0FB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1766" y="2760574"/>
            <a:ext cx="285293" cy="28529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561320" y="237744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48640" y="3794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public subnet is associated with the same route table via a for_each loop: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548640" y="4206240"/>
            <a:ext cx="2331720" cy="502920"/>
          </a:xfrm>
          <a:prstGeom prst="roundRect">
            <a:avLst>
              <a:gd name="adj" fmla="val 50909"/>
            </a:avLst>
          </a:prstGeom>
          <a:solidFill>
            <a:srgbClr val="E4E0FB"/>
          </a:solidFill>
          <a:ln/>
        </p:spPr>
      </p:sp>
      <p:sp>
        <p:nvSpPr>
          <p:cNvPr id="26" name="Text 20"/>
          <p:cNvSpPr/>
          <p:nvPr/>
        </p:nvSpPr>
        <p:spPr>
          <a:xfrm>
            <a:off x="548640" y="42062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1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3063240" y="4206240"/>
            <a:ext cx="2331720" cy="502920"/>
          </a:xfrm>
          <a:prstGeom prst="roundRect">
            <a:avLst>
              <a:gd name="adj" fmla="val 50909"/>
            </a:avLst>
          </a:prstGeom>
          <a:solidFill>
            <a:srgbClr val="E4E0FB"/>
          </a:solidFill>
          <a:ln/>
        </p:spPr>
      </p:sp>
      <p:sp>
        <p:nvSpPr>
          <p:cNvPr id="28" name="Text 22"/>
          <p:cNvSpPr/>
          <p:nvPr/>
        </p:nvSpPr>
        <p:spPr>
          <a:xfrm>
            <a:off x="3063240" y="42062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2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5577840" y="4206240"/>
            <a:ext cx="2331720" cy="502920"/>
          </a:xfrm>
          <a:prstGeom prst="roundRect">
            <a:avLst>
              <a:gd name="adj" fmla="val 50909"/>
            </a:avLst>
          </a:prstGeom>
          <a:solidFill>
            <a:srgbClr val="E4E0FB"/>
          </a:solidFill>
          <a:ln/>
        </p:spPr>
      </p:sp>
      <p:sp>
        <p:nvSpPr>
          <p:cNvPr id="30" name="Text 24"/>
          <p:cNvSpPr/>
          <p:nvPr/>
        </p:nvSpPr>
        <p:spPr>
          <a:xfrm>
            <a:off x="5577840" y="42062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3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548640" y="493776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121A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713232" y="508406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33" name="Shape 27"/>
          <p:cNvSpPr/>
          <p:nvPr/>
        </p:nvSpPr>
        <p:spPr>
          <a:xfrm>
            <a:off x="868680" y="508406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34" name="Shape 28"/>
          <p:cNvSpPr/>
          <p:nvPr/>
        </p:nvSpPr>
        <p:spPr>
          <a:xfrm>
            <a:off x="1024128" y="508406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35" name="Text 29"/>
          <p:cNvSpPr/>
          <p:nvPr/>
        </p:nvSpPr>
        <p:spPr>
          <a:xfrm>
            <a:off x="804672" y="5321808"/>
            <a:ext cx="105521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"aws_route_table" "public_rt" {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vpc_id = aws_vpc.my_vpc.id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route {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cidr_block = "0.0.0.0/0"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gateway_id = aws_internet_gateway.igw.id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"aws_route_table_association" "a" {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for_each       = aws_subnet.web_subnet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subnet_id      = each.value.id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route_table_id = aws_route_table.public_rt.id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12-13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Subnets &amp; NAT Gateway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subnets host databases and backend services that should never be reached directly from the internet. In this config, the NAT Gateway is scaffolded but commented out.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474720" cy="39776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468880"/>
            <a:ext cx="548640" cy="548640"/>
          </a:xfrm>
          <a:prstGeom prst="ellipse">
            <a:avLst/>
          </a:prstGeom>
          <a:solidFill>
            <a:srgbClr val="FFF1D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" y="2611526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542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 Hosts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96112" y="3273552"/>
            <a:ext cx="82296" cy="8229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80" y="31546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96112" y="3730752"/>
            <a:ext cx="82296" cy="8229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2" name="Text 9"/>
          <p:cNvSpPr/>
          <p:nvPr/>
        </p:nvSpPr>
        <p:spPr>
          <a:xfrm>
            <a:off x="1097280" y="36118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servers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96112" y="4187952"/>
            <a:ext cx="82296" cy="8229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4" name="Text 11"/>
          <p:cNvSpPr/>
          <p:nvPr/>
        </p:nvSpPr>
        <p:spPr>
          <a:xfrm>
            <a:off x="1097280" y="4069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servers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68680" y="48463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direct route to the Internet Gateway — isolated by design.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251960" y="2194560"/>
            <a:ext cx="3657600" cy="3977640"/>
          </a:xfrm>
          <a:prstGeom prst="roundRect">
            <a:avLst>
              <a:gd name="adj" fmla="val 2000"/>
            </a:avLst>
          </a:prstGeom>
          <a:solidFill>
            <a:srgbClr val="121A2E"/>
          </a:solidFill>
          <a:ln/>
        </p:spPr>
      </p:sp>
      <p:sp>
        <p:nvSpPr>
          <p:cNvPr id="17" name="Text 14"/>
          <p:cNvSpPr/>
          <p:nvPr/>
        </p:nvSpPr>
        <p:spPr>
          <a:xfrm>
            <a:off x="452628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Pattern (with NAT enabled)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0" y="2880360"/>
            <a:ext cx="3017520" cy="402336"/>
          </a:xfrm>
          <a:prstGeom prst="roundRect">
            <a:avLst>
              <a:gd name="adj" fmla="val 50000"/>
            </a:avLst>
          </a:prstGeom>
          <a:solidFill>
            <a:srgbClr val="5C4EE5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0" y="288036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080760" y="3282696"/>
            <a:ext cx="0" cy="164592"/>
          </a:xfrm>
          <a:prstGeom prst="line">
            <a:avLst/>
          </a:prstGeom>
          <a:noFill/>
          <a:ln w="25400">
            <a:solidFill>
              <a:srgbClr val="6B7A99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4572000" y="3447288"/>
            <a:ext cx="3017520" cy="402336"/>
          </a:xfrm>
          <a:prstGeom prst="roundRect">
            <a:avLst>
              <a:gd name="adj" fmla="val 50000"/>
            </a:avLst>
          </a:prstGeom>
          <a:solidFill>
            <a:srgbClr val="5C4EE5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0" y="344728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Gateway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080760" y="3849624"/>
            <a:ext cx="0" cy="164592"/>
          </a:xfrm>
          <a:prstGeom prst="line">
            <a:avLst/>
          </a:prstGeom>
          <a:noFill/>
          <a:ln w="25400">
            <a:solidFill>
              <a:srgbClr val="6B7A99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4572000" y="4014216"/>
            <a:ext cx="3017520" cy="402336"/>
          </a:xfrm>
          <a:prstGeom prst="roundRect">
            <a:avLst>
              <a:gd name="adj" fmla="val 50000"/>
            </a:avLst>
          </a:prstGeom>
          <a:solidFill>
            <a:srgbClr val="5C4EE5"/>
          </a:solidFill>
          <a:ln/>
        </p:spPr>
      </p:sp>
      <p:sp>
        <p:nvSpPr>
          <p:cNvPr id="25" name="Text 22"/>
          <p:cNvSpPr/>
          <p:nvPr/>
        </p:nvSpPr>
        <p:spPr>
          <a:xfrm>
            <a:off x="4572000" y="4014216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Subnet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080760" y="4416552"/>
            <a:ext cx="0" cy="164592"/>
          </a:xfrm>
          <a:prstGeom prst="line">
            <a:avLst/>
          </a:prstGeom>
          <a:noFill/>
          <a:ln w="25400">
            <a:solidFill>
              <a:srgbClr val="6B7A99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4572000" y="4581144"/>
            <a:ext cx="3017520" cy="402336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28" name="Text 25"/>
          <p:cNvSpPr/>
          <p:nvPr/>
        </p:nvSpPr>
        <p:spPr>
          <a:xfrm>
            <a:off x="4572000" y="458114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Gateway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6080760" y="4983480"/>
            <a:ext cx="0" cy="164592"/>
          </a:xfrm>
          <a:prstGeom prst="line">
            <a:avLst/>
          </a:prstGeom>
          <a:noFill/>
          <a:ln w="25400">
            <a:solidFill>
              <a:srgbClr val="6B7A99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4572000" y="5148072"/>
            <a:ext cx="3017520" cy="402336"/>
          </a:xfrm>
          <a:prstGeom prst="roundRect">
            <a:avLst>
              <a:gd name="adj" fmla="val 50000"/>
            </a:avLst>
          </a:prstGeom>
          <a:solidFill>
            <a:srgbClr val="5C4EE5"/>
          </a:solidFill>
          <a:ln/>
        </p:spPr>
      </p:sp>
      <p:sp>
        <p:nvSpPr>
          <p:cNvPr id="31" name="Text 28"/>
          <p:cNvSpPr/>
          <p:nvPr/>
        </p:nvSpPr>
        <p:spPr>
          <a:xfrm>
            <a:off x="4572000" y="514807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Subnet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4526280" y="56235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AE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servers can reach the internet outbound; the internet cannot reach them.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8138160" y="2194560"/>
            <a:ext cx="3520440" cy="3977640"/>
          </a:xfrm>
          <a:prstGeom prst="roundRect">
            <a:avLst>
              <a:gd name="adj" fmla="val 2078"/>
            </a:avLst>
          </a:prstGeom>
          <a:solidFill>
            <a:srgbClr val="121A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8302752" y="234086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35" name="Shape 32"/>
          <p:cNvSpPr/>
          <p:nvPr/>
        </p:nvSpPr>
        <p:spPr>
          <a:xfrm>
            <a:off x="8458200" y="234086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36" name="Shape 33"/>
          <p:cNvSpPr/>
          <p:nvPr/>
        </p:nvSpPr>
        <p:spPr>
          <a:xfrm>
            <a:off x="8613648" y="234086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37" name="Text 34"/>
          <p:cNvSpPr/>
          <p:nvPr/>
        </p:nvSpPr>
        <p:spPr>
          <a:xfrm>
            <a:off x="8394192" y="2578608"/>
            <a:ext cx="3008376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"aws_subnet" "private_subnet" {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for_each = var.private_subnet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NAT Gateway (currently commented)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resource "aws_nat_gateway" "nat" {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allocation_id = aws_eip.nat.id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subnet_id     = ...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}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14-15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Group — Dynamic Blocks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security group acts as a firewall. Instead of writing an ingress block for every port, a dynamic block loops over a list and generates one rule per port.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86400" cy="4343400"/>
          </a:xfrm>
          <a:prstGeom prst="roundRect">
            <a:avLst>
              <a:gd name="adj" fmla="val 1684"/>
            </a:avLst>
          </a:prstGeom>
          <a:solidFill>
            <a:srgbClr val="121A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229514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229514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024128" y="229514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2532888"/>
            <a:ext cx="4974336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"aws_security_group" "web_sg" {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vpc_id = aws_vpc.my_vpc.id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dynamic "ingress" {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for_each = local.ports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content {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from_port   = ingress.value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to_port     = ingress.value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protocol    = "tcp"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cidr_blocks = ["0.0.0.0/0"]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dynamic "egress" {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for_each = ["0.0.0.0/0"]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content { ... }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0" y="2148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 → Generated Rules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0" y="2606040"/>
            <a:ext cx="50292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83680" y="2724912"/>
            <a:ext cx="822960" cy="420624"/>
          </a:xfrm>
          <a:prstGeom prst="roundRect">
            <a:avLst>
              <a:gd name="adj" fmla="val 50000"/>
            </a:avLst>
          </a:prstGeom>
          <a:solidFill>
            <a:srgbClr val="E4E0FB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2724912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4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589520" y="260604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509760" y="260604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inbound, TCP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0" y="3410712"/>
            <a:ext cx="50292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0" y="3529584"/>
            <a:ext cx="822960" cy="420624"/>
          </a:xfrm>
          <a:prstGeom prst="roundRect">
            <a:avLst>
              <a:gd name="adj" fmla="val 50000"/>
            </a:avLst>
          </a:prstGeom>
          <a:solidFill>
            <a:srgbClr val="E4E0FB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3529584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4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589520" y="341071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509760" y="341071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inbound, TCP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0" y="4215384"/>
            <a:ext cx="50292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83680" y="4334256"/>
            <a:ext cx="822960" cy="420624"/>
          </a:xfrm>
          <a:prstGeom prst="roundRect">
            <a:avLst>
              <a:gd name="adj" fmla="val 50000"/>
            </a:avLst>
          </a:prstGeom>
          <a:solidFill>
            <a:srgbClr val="E4E0FB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433425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4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589520" y="4215384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509760" y="4215384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inbound, TCP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0" y="5065776"/>
            <a:ext cx="5029200" cy="640080"/>
          </a:xfrm>
          <a:prstGeom prst="roundRect">
            <a:avLst>
              <a:gd name="adj" fmla="val 11429"/>
            </a:avLst>
          </a:prstGeom>
          <a:solidFill>
            <a:srgbClr val="121A2E"/>
          </a:solidFill>
          <a:ln/>
        </p:spPr>
      </p:sp>
      <p:sp>
        <p:nvSpPr>
          <p:cNvPr id="27" name="Text 25"/>
          <p:cNvSpPr/>
          <p:nvPr/>
        </p:nvSpPr>
        <p:spPr>
          <a:xfrm>
            <a:off x="6629400" y="5065776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Egress: all outbound — 0.0.0.0/0 and ::/0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00800" y="5888736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since every egress rule is identical, a single “allow all” block works just as well as the loop.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16-17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 &amp; SSH Key Pair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source reads existing information instead of creating it. Here, Terraform looks up the latest Ubuntu AMI, and uploads a local public key for SSH access.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9496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423160"/>
            <a:ext cx="548640" cy="548640"/>
          </a:xfrm>
          <a:prstGeom prst="ellipse">
            <a:avLst/>
          </a:prstGeom>
          <a:solidFill>
            <a:srgbClr val="FFF1D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2565806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49631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"aws_ami" "ubuntu"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96112" y="3227832"/>
            <a:ext cx="82296" cy="8229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80" y="3108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= Canonical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96112" y="3630168"/>
            <a:ext cx="82296" cy="8229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2" name="Text 9"/>
          <p:cNvSpPr/>
          <p:nvPr/>
        </p:nvSpPr>
        <p:spPr>
          <a:xfrm>
            <a:off x="1097280" y="351129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x86_64 architecture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96112" y="4032504"/>
            <a:ext cx="82296" cy="8229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4" name="Text 11"/>
          <p:cNvSpPr/>
          <p:nvPr/>
        </p:nvSpPr>
        <p:spPr>
          <a:xfrm>
            <a:off x="1097280" y="39136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EBS root volume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96112" y="4434840"/>
            <a:ext cx="82296" cy="8229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6" name="Text 13"/>
          <p:cNvSpPr/>
          <p:nvPr/>
        </p:nvSpPr>
        <p:spPr>
          <a:xfrm>
            <a:off x="1097280" y="43159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HVM virtualization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96112" y="4837176"/>
            <a:ext cx="82296" cy="8229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471830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state, most recent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822960" y="5257800"/>
            <a:ext cx="4846320" cy="9144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20" name="Text 17"/>
          <p:cNvSpPr/>
          <p:nvPr/>
        </p:nvSpPr>
        <p:spPr>
          <a:xfrm>
            <a:off x="822960" y="5440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Result:  </a:t>
            </a:r>
            <a:pPr indent="0" marL="0">
              <a:buNone/>
            </a:pPr>
            <a:r>
              <a:rPr lang="en-US" sz="1200" b="1" dirty="0">
                <a:solidFill>
                  <a:srgbClr val="5C4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data.aws_ami.ubuntu.id  →  ami-xxxxxxxx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22960" y="58521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deploys the current image — no hardcoded, stale AMI IDs.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263640" y="2148840"/>
            <a:ext cx="5394960" cy="4343400"/>
          </a:xfrm>
          <a:prstGeom prst="roundRect">
            <a:avLst>
              <a:gd name="adj" fmla="val 1684"/>
            </a:avLst>
          </a:prstGeom>
          <a:solidFill>
            <a:srgbClr val="121A2E"/>
          </a:solidFill>
          <a:ln/>
        </p:spPr>
      </p:sp>
      <p:sp>
        <p:nvSpPr>
          <p:cNvPr id="23" name="Shape 20"/>
          <p:cNvSpPr/>
          <p:nvPr/>
        </p:nvSpPr>
        <p:spPr>
          <a:xfrm>
            <a:off x="6537960" y="2423160"/>
            <a:ext cx="548640" cy="548640"/>
          </a:xfrm>
          <a:prstGeom prst="ellipse">
            <a:avLst/>
          </a:prstGeom>
          <a:solidFill>
            <a:srgbClr val="2A2050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0606" y="2565806"/>
            <a:ext cx="263347" cy="263347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223760" y="249631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aws_key_pair</a:t>
            </a:r>
            <a:endParaRPr lang="en-US" sz="1450" dirty="0"/>
          </a:p>
        </p:txBody>
      </p:sp>
      <p:sp>
        <p:nvSpPr>
          <p:cNvPr id="26" name="Text 22"/>
          <p:cNvSpPr/>
          <p:nvPr/>
        </p:nvSpPr>
        <p:spPr>
          <a:xfrm>
            <a:off x="6537960" y="3017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E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your local public SSH key so EC2 instances can be accessed securely.</a:t>
            </a:r>
            <a:endParaRPr lang="en-US" sz="1250" dirty="0"/>
          </a:p>
        </p:txBody>
      </p:sp>
      <p:sp>
        <p:nvSpPr>
          <p:cNvPr id="27" name="Shape 23"/>
          <p:cNvSpPr/>
          <p:nvPr/>
        </p:nvSpPr>
        <p:spPr>
          <a:xfrm>
            <a:off x="6537960" y="3657600"/>
            <a:ext cx="4846320" cy="1691640"/>
          </a:xfrm>
          <a:prstGeom prst="roundRect">
            <a:avLst>
              <a:gd name="adj" fmla="val 4324"/>
            </a:avLst>
          </a:prstGeom>
          <a:solidFill>
            <a:srgbClr val="121A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6702552" y="380390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9" name="Shape 25"/>
          <p:cNvSpPr/>
          <p:nvPr/>
        </p:nvSpPr>
        <p:spPr>
          <a:xfrm>
            <a:off x="6858000" y="380390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30" name="Shape 26"/>
          <p:cNvSpPr/>
          <p:nvPr/>
        </p:nvSpPr>
        <p:spPr>
          <a:xfrm>
            <a:off x="7013448" y="380390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31" name="Text 27"/>
          <p:cNvSpPr/>
          <p:nvPr/>
        </p:nvSpPr>
        <p:spPr>
          <a:xfrm>
            <a:off x="6793992" y="4041648"/>
            <a:ext cx="43342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"aws_key_pair" "deployer" {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key_name   = "deployer-key"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public_key = file(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"ssh-keys/aws-key.pub"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6537960" y="54864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AE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file() function reads the key contents from disk at plan/apply time.</a:t>
            </a:r>
            <a:endParaRPr lang="en-US" sz="1150" dirty="0"/>
          </a:p>
        </p:txBody>
      </p:sp>
      <p:sp>
        <p:nvSpPr>
          <p:cNvPr id="33" name="Text 29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18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EC2 Instances — Three AZs, One Resource Block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for_each = aws_subnet.web_subnet drives one EC2 instance per subnet, each picking up the looked-up AMI, the shared security group, the key pair, and a boot-time script.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377440"/>
            <a:ext cx="548640" cy="548640"/>
          </a:xfrm>
          <a:prstGeom prst="ellipse">
            <a:avLst/>
          </a:prstGeom>
          <a:solidFill>
            <a:srgbClr val="E4E0F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454" y="2520086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377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EC2-1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463040" y="2670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us-east-1a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77240" y="3063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t3.medium · 2 vCPU · 4 GB RAM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77240" y="33375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IP assigned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77240" y="36118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 with app.sh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343400" y="214884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44568" y="2377440"/>
            <a:ext cx="548640" cy="548640"/>
          </a:xfrm>
          <a:prstGeom prst="ellipse">
            <a:avLst/>
          </a:prstGeom>
          <a:solidFill>
            <a:srgbClr val="E4E0FB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7214" y="2520086"/>
            <a:ext cx="263347" cy="26334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257800" y="2377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EC2-2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5257800" y="2670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us-east-1b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4572000" y="3063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t3.medium · 2 vCPU · 4 GB RAM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572000" y="33375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IP assigned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572000" y="36118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 with app.sh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8138160" y="214884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339328" y="2377440"/>
            <a:ext cx="548640" cy="548640"/>
          </a:xfrm>
          <a:prstGeom prst="ellipse">
            <a:avLst/>
          </a:prstGeom>
          <a:solidFill>
            <a:srgbClr val="E4E0FB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1974" y="2520086"/>
            <a:ext cx="263347" cy="263347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052560" y="2377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EC2-3</a:t>
            </a:r>
            <a:endParaRPr lang="en-US" sz="1450" dirty="0"/>
          </a:p>
        </p:txBody>
      </p:sp>
      <p:sp>
        <p:nvSpPr>
          <p:cNvPr id="25" name="Text 20"/>
          <p:cNvSpPr/>
          <p:nvPr/>
        </p:nvSpPr>
        <p:spPr>
          <a:xfrm>
            <a:off x="9052560" y="2670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us-east-1c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8366760" y="3063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t3.medium · 2 vCPU · 4 GB RAM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8366760" y="33375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IP assigned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8366760" y="36118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 with app.sh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548640" y="4343400"/>
            <a:ext cx="11109960" cy="2148840"/>
          </a:xfrm>
          <a:prstGeom prst="roundRect">
            <a:avLst>
              <a:gd name="adj" fmla="val 3404"/>
            </a:avLst>
          </a:prstGeom>
          <a:solidFill>
            <a:srgbClr val="121A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713232" y="448970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31" name="Shape 26"/>
          <p:cNvSpPr/>
          <p:nvPr/>
        </p:nvSpPr>
        <p:spPr>
          <a:xfrm>
            <a:off x="868680" y="448970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32" name="Shape 27"/>
          <p:cNvSpPr/>
          <p:nvPr/>
        </p:nvSpPr>
        <p:spPr>
          <a:xfrm>
            <a:off x="1024128" y="448970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33" name="Text 28"/>
          <p:cNvSpPr/>
          <p:nvPr/>
        </p:nvSpPr>
        <p:spPr>
          <a:xfrm>
            <a:off x="804672" y="4727448"/>
            <a:ext cx="1059789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"aws_instance" "web" {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for_each = aws_subnet.web_subnet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ami           = data.aws_ami.ubuntu.id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instance_type = "t3.medium"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subnet_id     = each.value.id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vpc_security_group_ids     = [aws_security_group.web_sg.id]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key_name                   = aws_key_pair.deployer.key_name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associate_public_ip_address = true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user_data = file("${path.module}/app/app.sh")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D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34" name="Text 29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19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Outputs &amp; Resource Creation Order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92024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4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aws_vpc_id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21284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vpc-xxxxxxxx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761488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285292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4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aws_subnet_id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14553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subnet1 → subnet-xxxxx ...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694176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378561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4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public_ips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407822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["54.82.x.x", "44.211.x.x", ...]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470916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public_ips loops through every EC2 instance and returns its address — handy for quick SSH access after apply.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55080" y="1417320"/>
            <a:ext cx="5303520" cy="5120640"/>
          </a:xfrm>
          <a:prstGeom prst="roundRect">
            <a:avLst>
              <a:gd name="adj" fmla="val 1429"/>
            </a:avLst>
          </a:prstGeom>
          <a:solidFill>
            <a:srgbClr val="121A2E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0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Creation Order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675120" y="2057400"/>
            <a:ext cx="201168" cy="201168"/>
          </a:xfrm>
          <a:prstGeom prst="ellipse">
            <a:avLst/>
          </a:prstGeom>
          <a:solidFill>
            <a:srgbClr val="5C4EE5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0" y="197510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Init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775704" y="2258568"/>
            <a:ext cx="0" cy="324612"/>
          </a:xfrm>
          <a:prstGeom prst="line">
            <a:avLst/>
          </a:prstGeom>
          <a:noFill/>
          <a:ln w="19050">
            <a:solidFill>
              <a:srgbClr val="3E4A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75120" y="2400300"/>
            <a:ext cx="201168" cy="201168"/>
          </a:xfrm>
          <a:prstGeom prst="ellipse">
            <a:avLst/>
          </a:prstGeom>
          <a:solidFill>
            <a:srgbClr val="5C4EE5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0" y="231800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Provider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775704" y="2601468"/>
            <a:ext cx="0" cy="324612"/>
          </a:xfrm>
          <a:prstGeom prst="line">
            <a:avLst/>
          </a:prstGeom>
          <a:noFill/>
          <a:ln w="19050">
            <a:solidFill>
              <a:srgbClr val="3E4A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75120" y="2743200"/>
            <a:ext cx="201168" cy="201168"/>
          </a:xfrm>
          <a:prstGeom prst="ellipse">
            <a:avLst/>
          </a:prstGeom>
          <a:solidFill>
            <a:srgbClr val="5C4EE5"/>
          </a:solidFill>
          <a:ln/>
        </p:spPr>
      </p:sp>
      <p:sp>
        <p:nvSpPr>
          <p:cNvPr id="24" name="Text 22"/>
          <p:cNvSpPr/>
          <p:nvPr/>
        </p:nvSpPr>
        <p:spPr>
          <a:xfrm>
            <a:off x="7040880" y="266090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775704" y="2944368"/>
            <a:ext cx="0" cy="324612"/>
          </a:xfrm>
          <a:prstGeom prst="line">
            <a:avLst/>
          </a:prstGeom>
          <a:noFill/>
          <a:ln w="19050">
            <a:solidFill>
              <a:srgbClr val="3E4A7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75120" y="3086100"/>
            <a:ext cx="201168" cy="201168"/>
          </a:xfrm>
          <a:prstGeom prst="ellipse">
            <a:avLst/>
          </a:prstGeom>
          <a:solidFill>
            <a:srgbClr val="5C4EE5"/>
          </a:solidFill>
          <a:ln/>
        </p:spPr>
      </p:sp>
      <p:sp>
        <p:nvSpPr>
          <p:cNvPr id="27" name="Text 25"/>
          <p:cNvSpPr/>
          <p:nvPr/>
        </p:nvSpPr>
        <p:spPr>
          <a:xfrm>
            <a:off x="7040880" y="300380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+ Private Subnets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775704" y="3287268"/>
            <a:ext cx="0" cy="324612"/>
          </a:xfrm>
          <a:prstGeom prst="line">
            <a:avLst/>
          </a:prstGeom>
          <a:noFill/>
          <a:ln w="19050">
            <a:solidFill>
              <a:srgbClr val="3E4A7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75120" y="3429000"/>
            <a:ext cx="201168" cy="201168"/>
          </a:xfrm>
          <a:prstGeom prst="ellipse">
            <a:avLst/>
          </a:prstGeom>
          <a:solidFill>
            <a:srgbClr val="5C4EE5"/>
          </a:solidFill>
          <a:ln/>
        </p:spPr>
      </p:sp>
      <p:sp>
        <p:nvSpPr>
          <p:cNvPr id="30" name="Text 28"/>
          <p:cNvSpPr/>
          <p:nvPr/>
        </p:nvSpPr>
        <p:spPr>
          <a:xfrm>
            <a:off x="7040880" y="334670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Gateway &amp; Routing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775704" y="3630168"/>
            <a:ext cx="0" cy="324612"/>
          </a:xfrm>
          <a:prstGeom prst="line">
            <a:avLst/>
          </a:prstGeom>
          <a:noFill/>
          <a:ln w="19050">
            <a:solidFill>
              <a:srgbClr val="3E4A7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75120" y="3771900"/>
            <a:ext cx="201168" cy="201168"/>
          </a:xfrm>
          <a:prstGeom prst="ellipse">
            <a:avLst/>
          </a:prstGeom>
          <a:solidFill>
            <a:srgbClr val="5C4EE5"/>
          </a:solidFill>
          <a:ln/>
        </p:spPr>
      </p:sp>
      <p:sp>
        <p:nvSpPr>
          <p:cNvPr id="33" name="Text 31"/>
          <p:cNvSpPr/>
          <p:nvPr/>
        </p:nvSpPr>
        <p:spPr>
          <a:xfrm>
            <a:off x="7040880" y="368960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 &amp; Key Pair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775704" y="3973068"/>
            <a:ext cx="0" cy="324612"/>
          </a:xfrm>
          <a:prstGeom prst="line">
            <a:avLst/>
          </a:prstGeom>
          <a:noFill/>
          <a:ln w="19050">
            <a:solidFill>
              <a:srgbClr val="3E4A7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75120" y="4114800"/>
            <a:ext cx="201168" cy="201168"/>
          </a:xfrm>
          <a:prstGeom prst="ellipse">
            <a:avLst/>
          </a:prstGeom>
          <a:solidFill>
            <a:srgbClr val="5C4EE5"/>
          </a:solidFill>
          <a:ln/>
        </p:spPr>
      </p:sp>
      <p:sp>
        <p:nvSpPr>
          <p:cNvPr id="36" name="Text 34"/>
          <p:cNvSpPr/>
          <p:nvPr/>
        </p:nvSpPr>
        <p:spPr>
          <a:xfrm>
            <a:off x="7040880" y="403250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 Lookup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775704" y="4315968"/>
            <a:ext cx="0" cy="324612"/>
          </a:xfrm>
          <a:prstGeom prst="line">
            <a:avLst/>
          </a:prstGeom>
          <a:noFill/>
          <a:ln w="19050">
            <a:solidFill>
              <a:srgbClr val="3E4A7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675120" y="4457700"/>
            <a:ext cx="201168" cy="201168"/>
          </a:xfrm>
          <a:prstGeom prst="ellipse">
            <a:avLst/>
          </a:prstGeom>
          <a:solidFill>
            <a:srgbClr val="5C4EE5"/>
          </a:solidFill>
          <a:ln/>
        </p:spPr>
      </p:sp>
      <p:sp>
        <p:nvSpPr>
          <p:cNvPr id="39" name="Text 37"/>
          <p:cNvSpPr/>
          <p:nvPr/>
        </p:nvSpPr>
        <p:spPr>
          <a:xfrm>
            <a:off x="7040880" y="437540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 EC2 Instances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6775704" y="4658868"/>
            <a:ext cx="0" cy="324612"/>
          </a:xfrm>
          <a:prstGeom prst="line">
            <a:avLst/>
          </a:prstGeom>
          <a:noFill/>
          <a:ln w="19050">
            <a:solidFill>
              <a:srgbClr val="3E4A7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675120" y="4800600"/>
            <a:ext cx="201168" cy="20116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42" name="Text 40"/>
          <p:cNvSpPr/>
          <p:nvPr/>
        </p:nvSpPr>
        <p:spPr>
          <a:xfrm>
            <a:off x="7040880" y="471830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Terraform Concepts Demonstrated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4754880"/>
        </p:xfrm>
        <a:graphic>
          <a:graphicData uri="http://schemas.openxmlformats.org/drawingml/2006/table">
            <a:tbl>
              <a:tblPr/>
              <a:tblGrid>
                <a:gridCol w="2651760"/>
                <a:gridCol w="4206240"/>
                <a:gridCol w="420624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Concept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Where Used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4EE5"/>
                          </a:solidFill>
                        </a:rPr>
                        <a:t>terraform block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333"/>
                          </a:solidFill>
                        </a:rPr>
                        <a:t>Provider definition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</a:rPr>
                        <a:t>Pins provider + version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4EE5"/>
                          </a:solidFill>
                        </a:rPr>
                        <a:t>Variables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333"/>
                          </a:solidFill>
                        </a:rPr>
                        <a:t>aws_region, vpc_cidr, subnets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</a:rPr>
                        <a:t>Reusable configuration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4EE5"/>
                          </a:solidFill>
                        </a:rPr>
                        <a:t>Locals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333"/>
                          </a:solidFill>
                        </a:rPr>
                        <a:t>project_tags, ports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</a:rPr>
                        <a:t>Reusable in-module values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4EE5"/>
                          </a:solidFill>
                        </a:rPr>
                        <a:t>Data Source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333"/>
                          </a:solidFill>
                        </a:rPr>
                        <a:t>data "aws_ami"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</a:rPr>
                        <a:t>Reads AMI without creating it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4EE5"/>
                          </a:solidFill>
                        </a:rPr>
                        <a:t>for_each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333"/>
                          </a:solidFill>
                        </a:rPr>
                        <a:t>Subnets, associations, EC2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</a:rPr>
                        <a:t>One block, many resources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4EE5"/>
                          </a:solidFill>
                        </a:rPr>
                        <a:t>Dynamic Blocks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333"/>
                          </a:solidFill>
                        </a:rPr>
                        <a:t>SG ingress / egress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</a:rPr>
                        <a:t>Generates repeated nested blocks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4EE5"/>
                          </a:solidFill>
                        </a:rPr>
                        <a:t>Functions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333"/>
                          </a:solidFill>
                        </a:rPr>
                        <a:t>merge(), file()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</a:rPr>
                        <a:t>Combines maps, reads local files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4EE5"/>
                          </a:solidFill>
                        </a:rPr>
                        <a:t>Outputs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333"/>
                          </a:solidFill>
                        </a:rPr>
                        <a:t>VPC ID, Subnet IDs, IPs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</a:rPr>
                        <a:t>Surfaces values after apply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Suggested Improvements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55648"/>
            <a:ext cx="502920" cy="502920"/>
          </a:xfrm>
          <a:prstGeom prst="ellipse">
            <a:avLst/>
          </a:prstGeom>
          <a:solidFill>
            <a:srgbClr val="E4E0F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567" y="1886407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1907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public IPs on private subnets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17320" y="217627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map_public_ip_on_launch = false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17920" y="155448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19088" y="1755648"/>
            <a:ext cx="502920" cy="502920"/>
          </a:xfrm>
          <a:prstGeom prst="ellipse">
            <a:avLst/>
          </a:prstGeom>
          <a:solidFill>
            <a:srgbClr val="E4E0F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9847" y="1886407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171907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 the egress rule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086600" y="217627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for_each loop — one "allow all" rule is enough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01752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49808" y="3218688"/>
            <a:ext cx="502920" cy="502920"/>
          </a:xfrm>
          <a:prstGeom prst="ellipse">
            <a:avLst/>
          </a:prstGeom>
          <a:solidFill>
            <a:srgbClr val="E4E0F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567" y="3349447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18211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the NAT Gateway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417320" y="363931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Uncomment NAT Gateway, Elastic IP, and private route table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17920" y="301752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19088" y="3218688"/>
            <a:ext cx="502920" cy="502920"/>
          </a:xfrm>
          <a:prstGeom prst="ellipse">
            <a:avLst/>
          </a:prstGeom>
          <a:solidFill>
            <a:srgbClr val="E4E0F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9847" y="3349447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86600" y="318211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Parametrize compute settings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086600" y="363931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variables for instance_type and key_name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448056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49808" y="4681728"/>
            <a:ext cx="502920" cy="502920"/>
          </a:xfrm>
          <a:prstGeom prst="ellipse">
            <a:avLst/>
          </a:prstGeom>
          <a:solidFill>
            <a:srgbClr val="E4E0FB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567" y="4812487"/>
            <a:ext cx="241402" cy="24140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17320" y="464515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private subnet IDs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1417320" y="510235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if later modules reference them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217920" y="448056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19088" y="4681728"/>
            <a:ext cx="502920" cy="502920"/>
          </a:xfrm>
          <a:prstGeom prst="ellipse">
            <a:avLst/>
          </a:prstGeom>
          <a:solidFill>
            <a:srgbClr val="E4E0FB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9847" y="4812487"/>
            <a:ext cx="241402" cy="24140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086600" y="464515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multiple files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7086600" y="510235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provider.tf, variables.tf, network.tf, security.tf, compute.tf, outputs.tf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5C4EE5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FF9900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37276" y="1371600"/>
            <a:ext cx="914400" cy="914400"/>
          </a:xfrm>
          <a:prstGeom prst="ellipse">
            <a:avLst/>
          </a:prstGeom>
          <a:solidFill>
            <a:srgbClr val="5C4EE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5020" y="160934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265176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Configuration, Full-Stack Infrastructure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2011680" y="34747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AE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Networking, security, compute, loops, dynamic blocks, data sources, and outputs — combined into a single, deployable Terraform project.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2802636" y="4480560"/>
            <a:ext cx="2011680" cy="502920"/>
          </a:xfrm>
          <a:prstGeom prst="roundRect">
            <a:avLst>
              <a:gd name="adj" fmla="val 50909"/>
            </a:avLst>
          </a:prstGeom>
          <a:solidFill>
            <a:srgbClr val="1B2A4A"/>
          </a:solidFill>
          <a:ln/>
        </p:spPr>
      </p:sp>
      <p:sp>
        <p:nvSpPr>
          <p:cNvPr id="9" name="Text 6"/>
          <p:cNvSpPr/>
          <p:nvPr/>
        </p:nvSpPr>
        <p:spPr>
          <a:xfrm>
            <a:off x="2802636" y="4480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init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997196" y="4480560"/>
            <a:ext cx="2011680" cy="502920"/>
          </a:xfrm>
          <a:prstGeom prst="roundRect">
            <a:avLst>
              <a:gd name="adj" fmla="val 50909"/>
            </a:avLst>
          </a:prstGeom>
          <a:solidFill>
            <a:srgbClr val="1B2A4A"/>
          </a:solidFill>
          <a:ln/>
        </p:spPr>
      </p:sp>
      <p:sp>
        <p:nvSpPr>
          <p:cNvPr id="11" name="Text 8"/>
          <p:cNvSpPr/>
          <p:nvPr/>
        </p:nvSpPr>
        <p:spPr>
          <a:xfrm>
            <a:off x="4997196" y="4480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plan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191756" y="4480560"/>
            <a:ext cx="2011680" cy="502920"/>
          </a:xfrm>
          <a:prstGeom prst="roundRect">
            <a:avLst>
              <a:gd name="adj" fmla="val 50909"/>
            </a:avLst>
          </a:prstGeom>
          <a:solidFill>
            <a:srgbClr val="1B2A4A"/>
          </a:solidFill>
          <a:ln/>
        </p:spPr>
      </p:sp>
      <p:sp>
        <p:nvSpPr>
          <p:cNvPr id="13" name="Text 10"/>
          <p:cNvSpPr/>
          <p:nvPr/>
        </p:nvSpPr>
        <p:spPr>
          <a:xfrm>
            <a:off x="7191756" y="4480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apply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Terraform on AWS - Complete Walkthrough</dc:title>
  <dc:subject>PptxGenJS Presentation</dc:subject>
  <dc:creator>Gopal</dc:creator>
  <cp:lastModifiedBy>Gopal</cp:lastModifiedBy>
  <cp:revision>1</cp:revision>
  <dcterms:created xsi:type="dcterms:W3CDTF">2026-07-08T03:42:45Z</dcterms:created>
  <dcterms:modified xsi:type="dcterms:W3CDTF">2026-07-08T03:42:45Z</dcterms:modified>
</cp:coreProperties>
</file>